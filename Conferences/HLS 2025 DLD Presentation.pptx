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1"/>
    <p:sldMasterId id="2147483659" r:id="rId2"/>
    <p:sldMasterId id="2147483669" r:id="rId3"/>
  </p:sldMasterIdLst>
  <p:notesMasterIdLst>
    <p:notesMasterId r:id="rId38"/>
  </p:notesMasterIdLst>
  <p:sldIdLst>
    <p:sldId id="714" r:id="rId4"/>
    <p:sldId id="796" r:id="rId5"/>
    <p:sldId id="797" r:id="rId6"/>
    <p:sldId id="770" r:id="rId7"/>
    <p:sldId id="771" r:id="rId8"/>
    <p:sldId id="772" r:id="rId9"/>
    <p:sldId id="742" r:id="rId10"/>
    <p:sldId id="743" r:id="rId11"/>
    <p:sldId id="753" r:id="rId12"/>
    <p:sldId id="799" r:id="rId13"/>
    <p:sldId id="744" r:id="rId14"/>
    <p:sldId id="795" r:id="rId15"/>
    <p:sldId id="746" r:id="rId16"/>
    <p:sldId id="769" r:id="rId17"/>
    <p:sldId id="745" r:id="rId18"/>
    <p:sldId id="748" r:id="rId19"/>
    <p:sldId id="750" r:id="rId20"/>
    <p:sldId id="798" r:id="rId21"/>
    <p:sldId id="751" r:id="rId22"/>
    <p:sldId id="752" r:id="rId23"/>
    <p:sldId id="754" r:id="rId24"/>
    <p:sldId id="800" r:id="rId25"/>
    <p:sldId id="755" r:id="rId26"/>
    <p:sldId id="756" r:id="rId27"/>
    <p:sldId id="761" r:id="rId28"/>
    <p:sldId id="757" r:id="rId29"/>
    <p:sldId id="758" r:id="rId30"/>
    <p:sldId id="759" r:id="rId31"/>
    <p:sldId id="760" r:id="rId32"/>
    <p:sldId id="762" r:id="rId33"/>
    <p:sldId id="765" r:id="rId34"/>
    <p:sldId id="767" r:id="rId35"/>
    <p:sldId id="766" r:id="rId36"/>
    <p:sldId id="768" r:id="rId37"/>
  </p:sldIdLst>
  <p:sldSz cx="9144000" cy="5143500" type="screen16x9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3540F3E4-3A56-594D-A98C-62123F4F527F}">
          <p14:sldIdLst>
            <p14:sldId id="714"/>
            <p14:sldId id="796"/>
            <p14:sldId id="797"/>
            <p14:sldId id="770"/>
            <p14:sldId id="771"/>
            <p14:sldId id="772"/>
            <p14:sldId id="742"/>
            <p14:sldId id="743"/>
            <p14:sldId id="753"/>
            <p14:sldId id="799"/>
            <p14:sldId id="744"/>
            <p14:sldId id="795"/>
            <p14:sldId id="746"/>
            <p14:sldId id="769"/>
            <p14:sldId id="745"/>
            <p14:sldId id="748"/>
            <p14:sldId id="750"/>
            <p14:sldId id="798"/>
            <p14:sldId id="751"/>
            <p14:sldId id="752"/>
            <p14:sldId id="754"/>
            <p14:sldId id="800"/>
            <p14:sldId id="755"/>
            <p14:sldId id="756"/>
            <p14:sldId id="761"/>
            <p14:sldId id="757"/>
            <p14:sldId id="758"/>
            <p14:sldId id="759"/>
            <p14:sldId id="760"/>
            <p14:sldId id="762"/>
            <p14:sldId id="765"/>
            <p14:sldId id="767"/>
            <p14:sldId id="766"/>
            <p14:sldId id="7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clrMru>
    <a:srgbClr val="595959"/>
    <a:srgbClr val="BF5700"/>
    <a:srgbClr val="0432FF"/>
    <a:srgbClr val="C00000"/>
    <a:srgbClr val="DE7E7A"/>
    <a:srgbClr val="000000"/>
    <a:srgbClr val="C6531F"/>
    <a:srgbClr val="C01338"/>
    <a:srgbClr val="79C82A"/>
    <a:srgbClr val="D61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0776" autoAdjust="0"/>
  </p:normalViewPr>
  <p:slideViewPr>
    <p:cSldViewPr>
      <p:cViewPr varScale="1">
        <p:scale>
          <a:sx n="130" d="100"/>
          <a:sy n="130" d="100"/>
        </p:scale>
        <p:origin x="208" y="2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F6FD56A5-6355-4B13-B783-7CC5477550B3}" type="datetimeFigureOut">
              <a:rPr lang="en-US"/>
              <a:pPr>
                <a:defRPr/>
              </a:pPr>
              <a:t>11/14/25</a:t>
            </a:fld>
            <a:endParaRPr lang="en-US" dirty="0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" y="700088"/>
            <a:ext cx="62039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24085"/>
            <a:ext cx="5486400" cy="41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6E074355-CE0D-4C68-A6CB-C364ED71B3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0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511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834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6AA7D-F766-8958-47F0-0D68C28C3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7B522-35EC-7AEA-F2CD-5474F343E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3A017-B770-0282-21EE-EA6BDDB83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6B6FA-CA03-D813-20AF-C2261D591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950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0C7A4-243E-75AB-C43B-4A93329A1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7FE8D-D47E-FA01-A666-BC8A5DE9E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EAF2D-EE75-E8DC-0C75-DE50C1525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22978-354F-CE05-3E5C-E82632894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638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886EB-2968-5BFF-3F5A-108AFCF8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26C80-1563-65FE-F4A6-4A3961EA4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E6CF7-6FB8-181E-1F4B-B52349B7C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7FAA2-A42A-04CC-75C3-52187A92B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596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116D0-5303-D7BB-4C28-6C1ABFAF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CCA91-452D-16DE-508E-16A5CFC65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AF9FE-E21E-E636-285F-9B55C6DFA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A23D9-3185-44DE-533A-632DD4D89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011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B993D-995E-7AA5-70B0-0581559F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9D04E-A05A-39D6-401F-D91CF01DE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F0EED-F197-6185-1F6E-7ED45FE4A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6F4CE-E901-6DD5-9372-CC0004A2D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886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8294-1F35-ADBB-FEF4-F344B550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D9E5B-9ADD-492D-5F8C-86BDF2F69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7B9E1-E29F-919F-A891-7A56790D5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2B58E-85FD-FC8D-2775-6E8CCED4F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096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EF8A9-A7A6-D02F-C3F0-090D69189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1A313-6DEA-0553-5982-EA55D089F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5E378-F765-BDAE-FB62-D9969973A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93AF5-DE70-C621-82C8-FD12AD936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345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95FA4-6D87-9923-0AE6-289A8E04D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46207-7990-346B-81CF-EF528361C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826C4-D771-F69F-3774-ABC575E39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DEB51-0DF3-B951-0EC4-5F5407F23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782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6E1DF-B37F-A235-168B-404368FA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F6878-4C8E-8B89-34F0-3E094D7F4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0C280-AE06-D3ED-B6A6-B559189F9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386E4-14BA-2F65-DC2C-640D8E3A0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248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CB87F-6318-05A2-A1D3-F23CC72B2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3FEE9-36C1-862F-68B7-EE833D1F9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16ADE-5FBD-0B58-ABE1-2B94B6AC8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D2B9E-CC26-183E-0FCC-6D3094119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292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F7023-B8B2-C7C9-1391-72170308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BD05B-71AB-D78F-3EE3-A61B812AF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2E56E-480A-0DE1-1EAA-5EB41B7D8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283D3-471D-870E-9FDB-C75929B20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744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09375-3E00-3DE2-F088-3FB8F0D1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62C69-E545-B1AD-1DB1-501A45C83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0CC68-CEF1-F9FE-0A5D-E46C82EAD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A83D6-CBF9-EE4B-144B-E69835D5B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543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138F2-064A-3DD3-FAC4-F78A6BE4E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1E134-7841-FBCF-002E-39846E887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D43E7-DA57-D53C-D87F-E9B534F98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D1C75-EBFB-6817-703D-DAD5A1ABE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942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7A552-1767-9EFF-19BE-DC0C6C951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6B423-2969-2421-A4EC-6F41D5EA9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19535-845B-B74E-39C8-2519043E0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56A7A-A1FE-08FA-E8FD-4743E6378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4472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97FEC-8656-EA4B-B4DE-04EBBA6CA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94485-20AD-997B-9AC8-B83893025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CB4AB-E6D9-AC9E-8F9B-6A0FD85EB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41DEC-5C01-8088-2275-106054581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6963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DA80C-637E-67B2-E2C9-C9A17FB07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B639C-8D40-1D45-DBEA-2706AC820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507F8-FE52-28B6-E9A7-8675FCDE9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87E23-D253-414A-71F4-1E7AFE8CE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3440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A532C-C2DD-94B7-947E-C9C34D2C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BEF3C-414B-3BF7-489E-CD8F6FF4F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44486-8161-A650-13A6-BA29B8E96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4B044-1C8E-E0E5-B0D0-A847D25EA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1566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A201B-8F22-1BA4-89DF-3D556FDCE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A33AAC-729B-14C4-72EC-4CAB8FFBC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4B89B-A29F-B7FF-03B8-F973EC5CB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5C41D-CDFC-E51B-1DBD-5915639B6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3474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BB8F-9263-F95E-DEB7-1F0D5B1AF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D63DC-4A2C-FC6E-5526-ECC2EF485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2DED1C-908A-12FD-3792-67CA976CC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D3B8F-1183-1B7C-A99A-1EEDB7073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092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B9AA9-5E42-854A-9094-029B448E7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918BB-3832-A289-1206-26B1AF432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60235-268E-624B-96EA-BCA527516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4689C-ABFF-BD3F-6B6E-671F000C7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8697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38420-B833-707F-14C0-095AC4BC2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B27FE-62E1-1BB4-1B7E-27DDB93CB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82856-02AB-1826-E255-549C05387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A9CFC-C393-252C-F9D3-6C33623D7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023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DD549-14E9-8114-CF1B-6C29581D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C9315-37F2-72E6-A914-9498E05CB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FD2AE-BD37-5951-E713-863C5FA1B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B6B83-E2FE-FDBB-C594-FF73394A1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752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18E1-BA0C-2FFF-98F8-FFF55C6A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80678-5AA2-8936-E2AE-3417ECF91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4DD97-9E93-7C30-F7C5-9483DF062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67C00-500C-1130-2400-152449088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9700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BCFE7-7070-337F-5F84-E2E2FF6F4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E60DF-68CA-3986-3E8F-719976034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892BB-21FE-9F9B-2C80-C8EABBC26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D618F-F26B-58A2-A84E-0417B4A5F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50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8F23B-2578-E29E-6DEB-670068F9E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80C05-1739-09B6-D07D-6B8E69B59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A537A-E496-B039-A80B-D46D51749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7633A-157A-101F-6034-34F9663CC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913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11776-B549-1287-61CF-1F1084A04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9C318-A90C-AE44-4773-8783F26A1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AC692-D85F-E13F-4561-3D0BC4933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F0E57-1DA2-3C0C-B103-CE4658495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7132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76A34-CD42-6F56-6B24-78B08BA69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9D8C9-2FE3-E60B-B8E2-D2908D988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12F6A-C30C-9CDA-E2B0-426D709A6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6D59B-6DEC-002E-0E51-05B9A00F4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598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503EB-2248-F2C2-6FFC-DDBB550CF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A3359-C9E2-0192-477F-23A9B9753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CD41E-D900-1E6C-FEA7-94A4B999B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36272-2FB4-EE8C-F6F0-67E6933D5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277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45E87-4027-7616-6B87-8AAFA520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2719B-2B09-502F-E69C-EB2249E1C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3C1E6-D443-808D-304F-53959B94E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DA3BE-C986-1F24-2845-54CB42753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0512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C2FAF-1BF6-7F4C-BE6C-97A0C7791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EE034-EB23-078B-5AE6-B9DE3FA3D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F4B8B-6C82-5217-6129-707692F59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AB3A8-FE65-FE3C-D4EF-52A5C70A3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2094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BB23B-ED15-BF1B-5DB7-DEC789BCB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F8D78-E2E2-714C-33C8-26FDB2035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04BAD-4E22-029C-E148-8A6060566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436C0-665B-D490-B35A-69FD7988B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8236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7A57-5C46-83BC-F224-A56D9A05B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B5CDE-B11F-F35C-F91B-F7A605AB3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0FEE7-D163-42F5-FB1A-7AC4A7FA5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836D4-3FEB-B4C5-A7CE-DB1E69D45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20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343"/>
            <a:ext cx="7772400" cy="110299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133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489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078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98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75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96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3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908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1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50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15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4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021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70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9530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530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/>
          <p:cNvSpPr txBox="1">
            <a:spLocks/>
          </p:cNvSpPr>
          <p:nvPr userDrawn="1"/>
        </p:nvSpPr>
        <p:spPr>
          <a:xfrm>
            <a:off x="490384" y="41719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Position/Role,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6" name="Text Placeholder 9"/>
          <p:cNvSpPr txBox="1">
            <a:spLocks/>
          </p:cNvSpPr>
          <p:nvPr userDrawn="1"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50332291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800" b="1" i="0" kern="800" cap="all" normalizeH="0" baseline="0">
          <a:solidFill>
            <a:schemeClr val="bg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 baseline="0">
          <a:solidFill>
            <a:schemeClr val="bg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8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7" r:id="rId5"/>
    <p:sldLayoutId id="214748366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6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7" r:id="rId5"/>
    <p:sldLayoutId id="214748367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pthane/DEME-Bilingualism-Analysis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0" y="3181350"/>
            <a:ext cx="5619750" cy="0"/>
          </a:xfrm>
          <a:prstGeom prst="line">
            <a:avLst/>
          </a:prstGeom>
          <a:ln w="19050">
            <a:solidFill>
              <a:srgbClr val="BF5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0" y="3943350"/>
            <a:ext cx="7886700" cy="7429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b="0" i="0" cap="all" baseline="0" noProof="0" dirty="0">
                <a:solidFill>
                  <a:srgbClr val="BF5700"/>
                </a:solidFill>
                <a:latin typeface="Arial Black" charset="0"/>
              </a:rPr>
              <a:t>Patrick D. Thane (University of Texas at Austin)</a:t>
            </a:r>
          </a:p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cap="all" dirty="0">
                <a:solidFill>
                  <a:srgbClr val="BF5700"/>
                </a:solidFill>
                <a:latin typeface="Arial Black" charset="0"/>
              </a:rPr>
              <a:t>Anny P. Castilla-Earls (University of Texas at Dallas)</a:t>
            </a:r>
            <a:endParaRPr lang="en-US" b="0" i="0" cap="all" baseline="0" noProof="0" dirty="0">
              <a:solidFill>
                <a:srgbClr val="BF5700"/>
              </a:solidFill>
              <a:latin typeface="Arial Black" charset="0"/>
            </a:endParaRPr>
          </a:p>
        </p:txBody>
      </p:sp>
      <p:sp>
        <p:nvSpPr>
          <p:cNvPr id="12" name="Text Placeholder 9"/>
          <p:cNvSpPr txBox="1">
            <a:spLocks/>
          </p:cNvSpPr>
          <p:nvPr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noProof="0" dirty="0">
                <a:solidFill>
                  <a:srgbClr val="BF5700"/>
                </a:solidFill>
                <a:latin typeface="Arial Black" charset="0"/>
              </a:rPr>
              <a:t>2025 Hispanic Linguistics Symposium</a:t>
            </a:r>
            <a:endParaRPr lang="en-US" sz="1200" b="0" noProof="0" dirty="0">
              <a:solidFill>
                <a:srgbClr val="BF5700"/>
              </a:solidFill>
            </a:endParaRPr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502920" y="1581150"/>
            <a:ext cx="7886700" cy="158588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400" i="1" noProof="0" dirty="0">
                <a:solidFill>
                  <a:srgbClr val="BF5700"/>
                </a:solidFill>
                <a:latin typeface="Palatino" pitchFamily="2" charset="77"/>
                <a:ea typeface="Palatino" pitchFamily="2" charset="77"/>
              </a:rPr>
              <a:t>Distinguishing between Developmental Language Disorder and Bilingualism Effects in Spanish as a Heritage Language: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4" t="20905" r="11454" b="26174"/>
          <a:stretch/>
        </p:blipFill>
        <p:spPr>
          <a:xfrm>
            <a:off x="7239000" y="511193"/>
            <a:ext cx="1371600" cy="4733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C181FF-31BA-9B6C-7B98-DA038FAD1C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99528"/>
            <a:ext cx="1104900" cy="78506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B01649A-6F94-C3C3-09E2-A1ABE786C21F}"/>
              </a:ext>
            </a:extLst>
          </p:cNvPr>
          <p:cNvSpPr txBox="1"/>
          <p:nvPr/>
        </p:nvSpPr>
        <p:spPr>
          <a:xfrm>
            <a:off x="548640" y="3167031"/>
            <a:ext cx="7604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Aft>
                <a:spcPts val="0"/>
              </a:spcAft>
            </a:pPr>
            <a:r>
              <a:rPr lang="en-US" sz="1800" b="1" noProof="0" dirty="0">
                <a:solidFill>
                  <a:srgbClr val="BF5700"/>
                </a:solidFill>
                <a:latin typeface="Palatino" pitchFamily="2" charset="77"/>
                <a:ea typeface="Palatino" pitchFamily="2" charset="77"/>
              </a:rPr>
              <a:t>Articles, Clitics, and Verbal Agreement</a:t>
            </a:r>
          </a:p>
        </p:txBody>
      </p:sp>
    </p:spTree>
    <p:extLst>
      <p:ext uri="{BB962C8B-B14F-4D97-AF65-F5344CB8AC3E}">
        <p14:creationId xmlns:p14="http://schemas.microsoft.com/office/powerpoint/2010/main" val="1825105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711E5-9845-DC27-1421-482B9449F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315097-0A5B-CEBB-566E-1496EC465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Developmental Language Disorder (DLD)</a:t>
            </a:r>
          </a:p>
          <a:p>
            <a:pPr marL="723900"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Difficulties with all areas of language, both productive and receptive (e.g., Bishop, 2017)</a:t>
            </a:r>
          </a:p>
          <a:p>
            <a:pPr marL="723900"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In this presentation, DLD occurs when there are no other cognitive conditions (e.g., autism or hearing loss)</a:t>
            </a:r>
          </a:p>
          <a:p>
            <a:pPr marL="723900"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Language disorders affect 7% of the U.S. school-aged population (</a:t>
            </a:r>
            <a:r>
              <a:rPr lang="en-US" sz="16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Bonuck</a:t>
            </a: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et al., 2022)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~7,973,000 schoolchildren speak Spanish at home (</a:t>
            </a:r>
            <a:r>
              <a:rPr lang="en-US" sz="20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ChildStats</a:t>
            </a: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Forum, n.d.)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~ 550,000 English–Spanish bilinguals with DLD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FD7EA3-1280-D596-8F6D-4B062E55AF4A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2023AE7-E326-8BA1-A2AC-A42CA6AEC210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Bilingual Developmental Language Disorder</a:t>
            </a:r>
          </a:p>
        </p:txBody>
      </p:sp>
    </p:spTree>
    <p:extLst>
      <p:ext uri="{BB962C8B-B14F-4D97-AF65-F5344CB8AC3E}">
        <p14:creationId xmlns:p14="http://schemas.microsoft.com/office/powerpoint/2010/main" val="197024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D7C29-F0A2-8A5A-A298-BB7343792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F29F89-8122-DBCC-D0DC-78EE7307D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noProof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Inflectional morphology is:</a:t>
            </a:r>
          </a:p>
          <a:p>
            <a:pPr marL="800100" lvl="1" indent="-341313">
              <a:buFont typeface="Wingdings" pitchFamily="2" charset="2"/>
              <a:buChar char="v"/>
            </a:pPr>
            <a:r>
              <a:rPr lang="en-US" sz="1600" noProof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The “bottleneck” of bilingual language development (Montrul, 2018; Slabakova, 2019)</a:t>
            </a:r>
          </a:p>
          <a:p>
            <a:pPr marL="800100" lvl="1" indent="-341313">
              <a:buFont typeface="Wingdings" pitchFamily="2" charset="2"/>
              <a:buChar char="v"/>
            </a:pPr>
            <a:r>
              <a:rPr lang="en-US" sz="1600" noProof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Hardest area for children with DLD to acquire (Dollaghan &amp; Horner, 2017)</a:t>
            </a:r>
            <a:endParaRPr lang="en-US" sz="1800" noProof="1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50838" indent="-341313">
              <a:buFont typeface="Wingdings" pitchFamily="2" charset="2"/>
              <a:buChar char="Ø"/>
            </a:pPr>
            <a:r>
              <a:rPr lang="en-US" sz="2000" noProof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Are challenges acquiring inflectional morphology due to:</a:t>
            </a:r>
          </a:p>
          <a:p>
            <a:pPr marL="750888" lvl="1" indent="-292100">
              <a:buFont typeface="Wingdings" pitchFamily="2" charset="2"/>
              <a:buChar char="v"/>
            </a:pPr>
            <a:r>
              <a:rPr lang="en-US" sz="1600" noProof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Crosslinguistic influence at the bottleneck for bilinguals?</a:t>
            </a:r>
          </a:p>
          <a:p>
            <a:pPr marL="750888" lvl="1" indent="-292100">
              <a:buFont typeface="Wingdings" pitchFamily="2" charset="2"/>
              <a:buChar char="v"/>
            </a:pPr>
            <a:r>
              <a:rPr lang="en-US" sz="1600" noProof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DLD?</a:t>
            </a:r>
          </a:p>
          <a:p>
            <a:pPr marL="750888" lvl="1" indent="-292100">
              <a:buFont typeface="Wingdings" pitchFamily="2" charset="2"/>
              <a:buChar char="v"/>
            </a:pPr>
            <a:r>
              <a:rPr lang="en-US" sz="1600" noProof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Both?</a:t>
            </a:r>
          </a:p>
          <a:p>
            <a:pPr marL="350838" indent="-341313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As many as 40% of DLD diagnoses in bilingual children are erroneous (</a:t>
            </a:r>
            <a:r>
              <a:rPr lang="en-US" sz="20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Bonuck</a:t>
            </a: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et al., 2022)</a:t>
            </a:r>
            <a:endParaRPr lang="en-US" sz="2400" noProof="1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F38788-AB53-BD14-C5AB-6AA2829ACFC6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7BD0B07-0326-8F28-8BD1-4BA405AA37ED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Bilingual Morphosyntactic Development</a:t>
            </a:r>
          </a:p>
        </p:txBody>
      </p:sp>
    </p:spTree>
    <p:extLst>
      <p:ext uri="{BB962C8B-B14F-4D97-AF65-F5344CB8AC3E}">
        <p14:creationId xmlns:p14="http://schemas.microsoft.com/office/powerpoint/2010/main" val="355799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77CDB-5581-151C-68E9-B982C14F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1DA40E-D4F3-379C-A153-46D1DED7E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3810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Spanish articles have gender and number agreement features for nouns</a:t>
            </a:r>
          </a:p>
          <a:p>
            <a:pPr marL="3810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Substitution patterns (morphosyntactic):</a:t>
            </a:r>
          </a:p>
          <a:p>
            <a:pPr marL="800100" lvl="1" indent="-341313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Masculine overextension by child heritage speakers (Anderson, 1999; Cuza &amp; Pérez-</a:t>
            </a:r>
            <a:r>
              <a:rPr lang="en-US" sz="16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Tattam</a:t>
            </a: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2016; </a:t>
            </a:r>
            <a:r>
              <a:rPr lang="en-US" sz="16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Montrul</a:t>
            </a: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&amp; </a:t>
            </a:r>
            <a:r>
              <a:rPr lang="en-US" sz="16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Potowski</a:t>
            </a: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2007)</a:t>
            </a:r>
          </a:p>
          <a:p>
            <a:pPr marL="800100" lvl="1" indent="-341313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Children with DLD substitute gender </a:t>
            </a:r>
            <a:r>
              <a:rPr lang="en-US" sz="16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or</a:t>
            </a: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number (e.g., Bedore &amp; Leonard, 2001, 2005; Castilla-Earls et al., 2016, 2020, 2023)</a:t>
            </a:r>
          </a:p>
          <a:p>
            <a:pPr marL="3810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Omission patterns (syntactic):</a:t>
            </a:r>
          </a:p>
          <a:p>
            <a:pPr marL="800100" lvl="1" indent="-341313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Omission in generic plural subject DPs for child heritage speakers (Cuza et al., 2025)</a:t>
            </a:r>
          </a:p>
          <a:p>
            <a:pPr marL="800100" lvl="1" indent="-341313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Omission not specific to semantic contexts for DLD (Bedore &amp; Leonard, 2001, 2005)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E6D4B0-130E-40B9-CED2-8E5AD174E1C6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1F72D98-F7EB-A5A8-EDBD-1257C2B8D3CD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Spanish Articles</a:t>
            </a:r>
          </a:p>
        </p:txBody>
      </p:sp>
    </p:spTree>
    <p:extLst>
      <p:ext uri="{BB962C8B-B14F-4D97-AF65-F5344CB8AC3E}">
        <p14:creationId xmlns:p14="http://schemas.microsoft.com/office/powerpoint/2010/main" val="322480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2B0F0-3875-B608-51E8-9BA5E43DA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E7F90F-2E0C-08EE-75BF-14540A4A3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Third person accusative clitics (gender and </a:t>
            </a:r>
            <a:r>
              <a:rPr lang="en-US" sz="200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number)</a:t>
            </a:r>
            <a:endParaRPr lang="en-US" sz="16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Substitution patterns (morphosyntactic):</a:t>
            </a:r>
          </a:p>
          <a:p>
            <a:pPr marL="800100" lvl="1" indent="-341313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Masculine overextension by child heritage speakers (Austin et al., 2024; Shin et al., 2019)</a:t>
            </a:r>
          </a:p>
          <a:p>
            <a:pPr marL="800100" lvl="1" indent="-341313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Near-miss gender </a:t>
            </a:r>
            <a:r>
              <a:rPr lang="en-US" sz="16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or</a:t>
            </a: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number by children with DLD (Bedore &amp; Leonard, 2001, 2005)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Omissions patterns (syntactic):</a:t>
            </a:r>
          </a:p>
          <a:p>
            <a:pPr marL="800100" lvl="1" indent="-3429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Bilinguals with high English dominance also sometimes omit clitics (Shin et al., 2019)</a:t>
            </a:r>
          </a:p>
          <a:p>
            <a:pPr marL="800100" lvl="1" indent="-3429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Frequently documented in children with DLD (e.g., Bedore &amp; Leonard, 2001, 2005; Castilla-Earls et al., 2016, 2020, 2023)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D34B22-C6B4-41C2-4B16-86911CE1D347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6765088-B158-742E-6B31-AC2D2BA874F9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Spanish Direct Object Clitics</a:t>
            </a:r>
          </a:p>
        </p:txBody>
      </p:sp>
    </p:spTree>
    <p:extLst>
      <p:ext uri="{BB962C8B-B14F-4D97-AF65-F5344CB8AC3E}">
        <p14:creationId xmlns:p14="http://schemas.microsoft.com/office/powerpoint/2010/main" val="77250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AE167-69DD-E23B-6A90-3459D6B8E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83EC68-5371-099E-2A97-B5515D76E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3810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All verbs agree with person/number of clausal subject</a:t>
            </a:r>
          </a:p>
          <a:p>
            <a:pPr marL="3810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Children with DLD have difficulties inflecting → nonfinite forms (Grinstead et al., 2009, 2013)</a:t>
            </a:r>
          </a:p>
          <a:p>
            <a:pPr marL="3810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Frequent extension of bare verbs (third person singular), but why?</a:t>
            </a:r>
            <a:endParaRPr lang="en-US" sz="16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Phonological defaults (Borer &amp; Rohrbacher, 2002)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Syntactically underspecified defaults (McCarthy, 2008)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Bare forms that function as infinitives (Grinstead et al., 2009, 2013)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FF9182-A1F1-A83C-5594-CA0B437724F9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08B3BA4-B1A5-84E0-0EC6-B79E6A2D33DC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Spanish Verbal Agreement</a:t>
            </a:r>
          </a:p>
        </p:txBody>
      </p:sp>
    </p:spTree>
    <p:extLst>
      <p:ext uri="{BB962C8B-B14F-4D97-AF65-F5344CB8AC3E}">
        <p14:creationId xmlns:p14="http://schemas.microsoft.com/office/powerpoint/2010/main" val="409145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3D0A2-AB9B-BBD3-7238-08507CC3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06FCDA-E880-CE75-F570-E9E900493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Are there differences between the following groups in the production of target-like articles, clitics, and verbal agreement:</a:t>
            </a:r>
          </a:p>
          <a:p>
            <a:pPr marL="458788" lvl="1" indent="-458788">
              <a:buFont typeface="+mj-lt"/>
              <a:buAutoNum type="alphaUcPeriod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Children with DLD and TD?</a:t>
            </a:r>
          </a:p>
          <a:p>
            <a:pPr marL="458788" lvl="1" indent="-458788">
              <a:buFont typeface="+mj-lt"/>
              <a:buAutoNum type="alphaUcPeriod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Bilingual and monolingual children?</a:t>
            </a:r>
          </a:p>
          <a:p>
            <a:pPr marL="458788" lvl="1" indent="-458788">
              <a:buFont typeface="+mj-lt"/>
              <a:buAutoNum type="alphaUcPeriod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Typical bilinguals and monolinguals with DLD?</a:t>
            </a:r>
          </a:p>
          <a:p>
            <a:pPr marL="0" lvl="1" indent="0">
              <a:buNone/>
            </a:pPr>
            <a:br>
              <a:rPr lang="en-US" sz="2000" dirty="0">
                <a:solidFill>
                  <a:srgbClr val="FF0000"/>
                </a:solidFill>
                <a:latin typeface="Palatino" pitchFamily="2" charset="77"/>
                <a:ea typeface="Palatino" pitchFamily="2" charset="77"/>
              </a:rPr>
            </a:br>
            <a:r>
              <a:rPr lang="en-US" sz="2000" b="1" i="1" dirty="0">
                <a:solidFill>
                  <a:srgbClr val="FF0000"/>
                </a:solidFill>
                <a:latin typeface="Palatino" pitchFamily="2" charset="77"/>
                <a:ea typeface="Palatino" pitchFamily="2" charset="77"/>
              </a:rPr>
              <a:t>Hypotheses: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US" sz="2000" b="1" i="1" dirty="0">
                <a:solidFill>
                  <a:srgbClr val="FF0000"/>
                </a:solidFill>
                <a:latin typeface="Palatino" pitchFamily="2" charset="77"/>
                <a:ea typeface="Palatino" pitchFamily="2" charset="77"/>
              </a:rPr>
              <a:t>Children with typical development and who are monolingual would produce more target-like inflectional morphology than peers with DLD and/or who are bilingual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US" sz="2000" b="1" i="1" dirty="0">
                <a:solidFill>
                  <a:srgbClr val="FF0000"/>
                </a:solidFill>
                <a:latin typeface="Palatino" pitchFamily="2" charset="77"/>
                <a:ea typeface="Palatino" pitchFamily="2" charset="77"/>
              </a:rPr>
              <a:t>Typical bilinguals would do so more than monolinguals with DLD.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553805-008A-9ADB-0ED9-6FE0969C61B5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A25879E-7A75-4525-38B9-76E1365305EC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Research Question #1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4227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AA2A-39F1-882C-2176-E2F8B7F65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0DEA09-E0C7-054C-71C5-58BE3AFEE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Are there differences in rates of article/clitic omission in children with DLD independent of bilingualism effects?</a:t>
            </a:r>
          </a:p>
          <a:p>
            <a:pPr marL="0" indent="0">
              <a:buNone/>
            </a:pPr>
            <a:endParaRPr lang="en-US" sz="20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0" indent="0">
              <a:buNone/>
            </a:pPr>
            <a:r>
              <a:rPr lang="en-US" sz="2400" b="1" i="1" dirty="0">
                <a:solidFill>
                  <a:srgbClr val="FF0000"/>
                </a:solidFill>
                <a:latin typeface="Palatino" pitchFamily="2" charset="77"/>
                <a:ea typeface="Palatino" pitchFamily="2" charset="77"/>
              </a:rPr>
              <a:t>Hypothesis: children with DLD will omit more articles and clitics than children with TD, but bilinguals will not do so more than monolinguals (maintains morphology as the bottleneck).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3A3CFD-CD82-4370-ABF2-3E78A1365321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23A1CFF4-2DE2-EE48-C318-8458D2D2E8BE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Research Question #2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8903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E731F-B819-2138-ADF2-17A25E963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A835A0-A12D-499A-3C0C-2D54FA7B4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 children overproduce third person singular forms in the preterit? If so, do they do so for phonological, morphosyntactic, or syntactic reasons?</a:t>
            </a:r>
          </a:p>
          <a:p>
            <a:pPr marL="0" indent="0">
              <a:buNone/>
            </a:pPr>
            <a:endParaRPr lang="en-US" sz="20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0" indent="0">
              <a:buNone/>
            </a:pPr>
            <a:r>
              <a:rPr lang="en-US" sz="2400" b="1" i="1" dirty="0">
                <a:solidFill>
                  <a:srgbClr val="FF0000"/>
                </a:solidFill>
                <a:latin typeface="Palatino" pitchFamily="2" charset="77"/>
                <a:ea typeface="Palatino" pitchFamily="2" charset="77"/>
              </a:rPr>
              <a:t>Hypothesis: children with DLD and children who are bilingual will use third person (person) and singular (number) defaults more frequently than TD and/or monolingual peers due to morphosyntactic underspecification.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B5E07A-72AA-6C6C-C1F5-8ED50BF370A8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4598D0C-61F8-C895-BD6C-6B373DDC883E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Research Question #3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9315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D8916-3979-A4A0-0E41-69E0B3E13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4FD7E5-3DB8-83A8-A497-12AA62EBF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 older children produce more target-like articles, clitics, and verbal agreement than younger children?</a:t>
            </a:r>
          </a:p>
          <a:p>
            <a:pPr marL="0" indent="0">
              <a:buNone/>
            </a:pPr>
            <a:endParaRPr lang="en-US" sz="20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0" indent="0">
              <a:buNone/>
            </a:pPr>
            <a:r>
              <a:rPr lang="en-US" sz="2400" b="1" i="1" dirty="0">
                <a:solidFill>
                  <a:srgbClr val="FF0000"/>
                </a:solidFill>
                <a:latin typeface="Palatino" pitchFamily="2" charset="77"/>
                <a:ea typeface="Palatino" pitchFamily="2" charset="77"/>
              </a:rPr>
              <a:t>Hypothesis: all groups will show an increase with age, particularly those who are bilingual and/or who experience DLD (monolinguals/children with TD will already be more target-like).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DD8981-3870-1EEE-4365-3B29DC51805E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B22300C-1E6C-33A6-52F0-26534CAACBAF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Research Question #4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9837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B3152-4679-53BD-ED2E-7044D401E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C31690-24A5-E240-4C14-6022D198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116 children between 4;0 and 6;11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33 bilinguals with DLD (BL-DLD)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33 bilinguals with typical development (BL-TD)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25 monolinguals with DLD (ML-DLD)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25 monolinguals with typical development (ML-TD)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Demographic background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Monolingual children: Mexico City (in collaboration with Dr. Alejandra Auza Benavides)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Bilingual children: Primarily Mexican descent; Houston &amp; upstate New York (72% FRPL)</a:t>
            </a:r>
            <a:endParaRPr lang="en-US" sz="18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Classification as DLD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Cutoff standard score on Bilingual English-Spanish Assessment (BESA; Peña et al., 2018)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Percentage of grammatical utterances below 80% in best language (only Spanish for monolinguals)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186181-3046-7458-7C1C-492DFB155F64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73DAC40-05BE-16B8-B4D0-48EABCD58D85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Participants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0122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1856-E7EF-B05A-A6F8-FD05ECCC2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82EF71-8EBF-DCEE-B904-CBDA998E5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Elicited production task (Castilla-Earls et al., 2016, 2020, 2021)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Subset of items included for appropriate reliability: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8 articles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10 direct object clitics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7 preterit inflections testing S/V agreement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Focus on preterit morphology: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41FC11-C92A-2658-F6B9-66090DF30A86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4DF5F95-B949-B58A-6299-64054E84661D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DEME Production Task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E07750-0C0A-6670-C93F-7BF0680808A9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318135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644620183"/>
                    </a:ext>
                  </a:extLst>
                </a:gridCol>
                <a:gridCol w="1949908">
                  <a:extLst>
                    <a:ext uri="{9D8B030D-6E8A-4147-A177-3AD203B41FA5}">
                      <a16:colId xmlns:a16="http://schemas.microsoft.com/office/drawing/2014/main" val="1195268584"/>
                    </a:ext>
                  </a:extLst>
                </a:gridCol>
                <a:gridCol w="1673056">
                  <a:extLst>
                    <a:ext uri="{9D8B030D-6E8A-4147-A177-3AD203B41FA5}">
                      <a16:colId xmlns:a16="http://schemas.microsoft.com/office/drawing/2014/main" val="1054026688"/>
                    </a:ext>
                  </a:extLst>
                </a:gridCol>
                <a:gridCol w="2473036">
                  <a:extLst>
                    <a:ext uri="{9D8B030D-6E8A-4147-A177-3AD203B41FA5}">
                      <a16:colId xmlns:a16="http://schemas.microsoft.com/office/drawing/2014/main" val="2544209018"/>
                    </a:ext>
                  </a:extLst>
                </a:gridCol>
              </a:tblGrid>
              <a:tr h="2293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Person/Number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Preterit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Infinitive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220642"/>
                  </a:ext>
                </a:extLst>
              </a:tr>
              <a:tr h="27294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1PS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é</a:t>
                      </a: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/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í</a:t>
                      </a:r>
                      <a:endParaRPr lang="en-US"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ar</a:t>
                      </a: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, –er, –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ir</a:t>
                      </a:r>
                      <a:endParaRPr lang="en-US"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551324"/>
                  </a:ext>
                </a:extLst>
              </a:tr>
              <a:tr h="27294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2PS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–as/–es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aste</a:t>
                      </a: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/–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iste</a:t>
                      </a:r>
                      <a:endParaRPr lang="en-US"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02695"/>
                  </a:ext>
                </a:extLst>
              </a:tr>
              <a:tr h="27294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3PS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–a/–e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ó</a:t>
                      </a: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/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ió</a:t>
                      </a:r>
                      <a:endParaRPr lang="en-US"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614584"/>
                  </a:ext>
                </a:extLst>
              </a:tr>
              <a:tr h="27294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1PP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amos</a:t>
                      </a: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/–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emos</a:t>
                      </a: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/–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imos</a:t>
                      </a:r>
                      <a:endParaRPr lang="en-US"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amos</a:t>
                      </a: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/–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imos</a:t>
                      </a:r>
                      <a:endParaRPr lang="en-US"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624807"/>
                  </a:ext>
                </a:extLst>
              </a:tr>
              <a:tr h="27294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2PP/3PP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–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aron</a:t>
                      </a:r>
                      <a:r>
                        <a:rPr lang="en-US" sz="1400" dirty="0">
                          <a:latin typeface="Palatino" pitchFamily="2" charset="77"/>
                          <a:ea typeface="Palatino" pitchFamily="2" charset="77"/>
                        </a:rPr>
                        <a:t>/–</a:t>
                      </a:r>
                      <a:r>
                        <a:rPr lang="en-US" sz="1400" dirty="0" err="1">
                          <a:latin typeface="Palatino" pitchFamily="2" charset="77"/>
                          <a:ea typeface="Palatino" pitchFamily="2" charset="77"/>
                        </a:rPr>
                        <a:t>ieron</a:t>
                      </a:r>
                      <a:endParaRPr lang="en-US" sz="1400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59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242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C5C78-8E67-B4EB-FE19-FDD2D8C1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324C98-CCAF-342C-E0BE-0C859A793C2B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7F544B-941D-63ED-DFDE-F3D8C89301C2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Group-Level Analyses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19E18-8982-24FD-EC1B-F9B30CCF13CB}"/>
              </a:ext>
            </a:extLst>
          </p:cNvPr>
          <p:cNvSpPr txBox="1"/>
          <p:nvPr/>
        </p:nvSpPr>
        <p:spPr>
          <a:xfrm>
            <a:off x="5562600" y="2038350"/>
            <a:ext cx="3505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Observations:</a:t>
            </a:r>
            <a:endParaRPr lang="en-US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18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Typical development &gt; DLD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18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Monolinguals &gt; bilinguals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18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BL-TD &gt; ML-DLD except with articles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18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Articles &gt; verb agreement &gt; clitics</a:t>
            </a:r>
            <a:endParaRPr lang="en-US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47682D4-DC1C-F935-5D82-CA762CCA3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" y="1202501"/>
            <a:ext cx="5486400" cy="1828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165A989-060A-F834-748C-81C6EAA94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3186053"/>
            <a:ext cx="54864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3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49309-55A2-B33D-F33B-D4C09B31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F641F3-02BA-0368-421F-CC5ECF1E41A5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662BCF1-E9DD-493C-497A-2BA0E0FF4D0A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Analysis of Non-Target Verbal Agreement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91D14E-F160-C395-5342-9D74E3B891D0}"/>
              </a:ext>
            </a:extLst>
          </p:cNvPr>
          <p:cNvSpPr txBox="1"/>
          <p:nvPr/>
        </p:nvSpPr>
        <p:spPr>
          <a:xfrm>
            <a:off x="4852218" y="2267733"/>
            <a:ext cx="413692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Observations:</a:t>
            </a:r>
            <a:endParaRPr lang="en-US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18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Extension of 3PS to other contexts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18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3PP extended to 1PP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18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Rare overextension of plural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18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Rare overextension of first person</a:t>
            </a:r>
            <a:endParaRPr lang="en-US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4C268-1013-F762-9CAB-DC6967877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" y="1047750"/>
            <a:ext cx="4702277" cy="397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20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B75CF-0822-21BD-E71C-26AD08F76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F48FCB-8F4C-A987-143B-827CC1CD8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Group-level analysis (RQ1): 4 Sets of 4 binomial logistic regressions (1 for each group); Response ~ Group + Age + (1 | Participant) + (1 | Item)</a:t>
            </a:r>
          </a:p>
          <a:p>
            <a:pPr marL="750888" lvl="1" indent="-27305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Articles (ML-TD, ML-DLD, BL-TD, BL-DLD)</a:t>
            </a:r>
          </a:p>
          <a:p>
            <a:pPr marL="750888" lvl="1" indent="-27305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Clitics (ML-TD, ML-DLD, BL-TD, BL-DLD)</a:t>
            </a:r>
          </a:p>
          <a:p>
            <a:pPr marL="750888" lvl="1" indent="-27305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Verbal Agreement (ML-TD, ML-DLD, BL-TD, BL-DLD)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Qualitative analyses (RQ2): GLMMs evaluating </a:t>
            </a:r>
            <a:r>
              <a:rPr lang="en-US" sz="20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only</a:t>
            </a: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non-target responses:</a:t>
            </a:r>
          </a:p>
          <a:p>
            <a:pPr marL="750888" lvl="1" indent="-2921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Omission of articles ~ Language ability (TD/DLD)</a:t>
            </a:r>
          </a:p>
          <a:p>
            <a:pPr marL="750888" lvl="1" indent="-2921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Omission of articles ~ Bilingualism (monolingual/bilingual)</a:t>
            </a:r>
          </a:p>
          <a:p>
            <a:pPr marL="750888" lvl="1" indent="-2921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Omission of clitics ~ Language ability (TD/DLD)</a:t>
            </a:r>
          </a:p>
          <a:p>
            <a:pPr marL="750888" lvl="1" indent="-2921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Omission of clitics ~ Bilingualism (monolingual/bilingual)</a:t>
            </a:r>
          </a:p>
          <a:p>
            <a:pPr marL="750888" lvl="1" indent="-2921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Third person singular responses ~ Language ability (TD/DLD)</a:t>
            </a:r>
          </a:p>
          <a:p>
            <a:pPr marL="750888" lvl="1" indent="-2921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Third person singular responses ~ Bilingualism (monolingual/bilingual)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4DA5B9-301E-4A4E-8FB7-4A798B8A88A8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57CF4B6-DFEB-1182-2F08-2166416DBBE8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Multivariate Analyses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4312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E08AC-3B8B-2172-48EF-621E1851B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B810CF-F7FF-B7E2-0A20-1B027B0D1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Monolinguals &gt; bilinguals within language ability (ML-TD &gt; BL-TD and ML-DLD &gt; BL-DLD), except verbal agreement (ML-TD = BL-TD)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TD &gt; DLD groups of same language profile (ML-TD &gt; ML-DLD and BL-TD &gt; BL-DLD)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BL-TD &gt; ML-DLD for all structures except articles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Chronological age was significant – older children &gt; younger children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864F1B-D9F0-D0A0-B507-ED453D0E7EA6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38E2B4E-5FC7-5F5F-7589-DE6A0AF1DE82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Results, Group-Level Analyses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6056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4E9CA-4B84-ACFD-E7EF-5094F07A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8078FD-CEE6-7EFB-A3AD-70621E91C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Autofit/>
          </a:bodyPr>
          <a:lstStyle/>
          <a:p>
            <a:pPr marL="40005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Article omission: no difference TD/DLD, no difference monolingual/ bilingual</a:t>
            </a:r>
          </a:p>
          <a:p>
            <a:pPr marL="40005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Third person singular extensions: no difference TD/DLD, bilingual &gt; monolingual</a:t>
            </a:r>
          </a:p>
          <a:p>
            <a:pPr marL="40005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Clitic omission: DLD &gt; TD, but no difference monolingual/bilinguals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3A0CE3-F3CD-9C06-5133-FECEE2C84703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9719A9F-0D6C-DC18-BEFE-F94428650A70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Results, Qualitative Analyses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8845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EBE4D-BDFB-10E6-3BEB-395A54EF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2D13AB-BB44-1041-D68D-DFA646C4BC04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BF0BDAC8-68FC-187C-E4BF-A80A65A9AA8B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Individual Variation and Differences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C7CA6D-A245-BA7C-A0AF-9459804AD5B6}"/>
              </a:ext>
            </a:extLst>
          </p:cNvPr>
          <p:cNvSpPr txBox="1"/>
          <p:nvPr/>
        </p:nvSpPr>
        <p:spPr>
          <a:xfrm>
            <a:off x="6528619" y="1720899"/>
            <a:ext cx="261538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Observations:</a:t>
            </a:r>
            <a:endParaRPr lang="en-US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18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Overlap between all groups in all structures (~age 5)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18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Clitics: smallest overlap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18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Categorical omission not typical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1800" noProof="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High performers across age, groups, structures</a:t>
            </a:r>
            <a:endParaRPr lang="en-US" sz="2000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3CAFF5-AB1F-6C3A-DB30-1E21F5B56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61" y="971550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03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9C73-28DA-37F4-94AA-0624AB8CF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0A30FC-328E-5EFD-5CEB-1097E82F5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419350"/>
            <a:ext cx="8915400" cy="2069858"/>
          </a:xfrm>
        </p:spPr>
        <p:txBody>
          <a:bodyPr>
            <a:noAutofit/>
          </a:bodyPr>
          <a:lstStyle/>
          <a:p>
            <a:pPr marL="342900" lvl="1" indent="-3429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Most predictions upheld, except:</a:t>
            </a:r>
          </a:p>
          <a:p>
            <a:pPr marL="742950" lvl="2" indent="-3429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ML-TD did not differ significantly from BL-TD with verbal agreement</a:t>
            </a:r>
          </a:p>
          <a:p>
            <a:pPr marL="742950" lvl="2" indent="-3429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BL-TD = ML-DLD with articles</a:t>
            </a:r>
          </a:p>
          <a:p>
            <a:pPr marL="342900" lvl="1" indent="-3429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Children w/ TD produced quantitatively more target morphology than peers with DLD</a:t>
            </a:r>
          </a:p>
          <a:p>
            <a:pPr marL="342900" lvl="1" indent="-3429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DLD effects &gt; bilingualism effects, except with articles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8E6422-8448-03CD-10FC-A85B5A141DE4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81B63A-CFD9-7923-5FB7-96D4AD880E00}"/>
              </a:ext>
            </a:extLst>
          </p:cNvPr>
          <p:cNvSpPr txBox="1">
            <a:spLocks/>
          </p:cNvSpPr>
          <p:nvPr/>
        </p:nvSpPr>
        <p:spPr bwMode="auto">
          <a:xfrm>
            <a:off x="152400" y="859769"/>
            <a:ext cx="8915400" cy="1407181"/>
          </a:xfrm>
          <a:prstGeom prst="rect">
            <a:avLst/>
          </a:prstGeom>
          <a:solidFill>
            <a:srgbClr val="FFED56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rimson Roman" panose="02000503000000000000" pitchFamily="2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dirty="0">
                <a:solidFill>
                  <a:srgbClr val="BF5700"/>
                </a:solidFill>
                <a:latin typeface="Palatino" pitchFamily="2" charset="77"/>
                <a:ea typeface="Palatino" pitchFamily="2" charset="77"/>
              </a:rPr>
              <a:t>1).	Are there differences between the following groups in the production of target-like articles, clitics, and verbal agreement: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sz="1600" dirty="0">
                <a:solidFill>
                  <a:srgbClr val="BF5700"/>
                </a:solidFill>
                <a:latin typeface="Palatino" pitchFamily="2" charset="77"/>
                <a:ea typeface="Palatino" pitchFamily="2" charset="77"/>
              </a:rPr>
              <a:t>Children with DLD and TD?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sz="1600" dirty="0">
                <a:solidFill>
                  <a:srgbClr val="BF5700"/>
                </a:solidFill>
                <a:latin typeface="Palatino" pitchFamily="2" charset="77"/>
                <a:ea typeface="Palatino" pitchFamily="2" charset="77"/>
              </a:rPr>
              <a:t>Bilingual and monolingual children?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sz="1600" dirty="0">
                <a:solidFill>
                  <a:srgbClr val="BF5700"/>
                </a:solidFill>
                <a:latin typeface="Palatino" pitchFamily="2" charset="77"/>
                <a:ea typeface="Palatino" pitchFamily="2" charset="77"/>
              </a:rPr>
              <a:t>Typical bilinguals and monolinguals with DLD?</a:t>
            </a:r>
          </a:p>
        </p:txBody>
      </p:sp>
    </p:spTree>
    <p:extLst>
      <p:ext uri="{BB962C8B-B14F-4D97-AF65-F5344CB8AC3E}">
        <p14:creationId xmlns:p14="http://schemas.microsoft.com/office/powerpoint/2010/main" val="252579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03CC-1628-3D30-586E-71988BD01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2C9D22-2E79-E71D-9FDF-CA98B4325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79534"/>
            <a:ext cx="8915400" cy="2809674"/>
          </a:xfrm>
        </p:spPr>
        <p:txBody>
          <a:bodyPr>
            <a:noAutofit/>
          </a:bodyPr>
          <a:lstStyle/>
          <a:p>
            <a:pPr marL="342900" lvl="1" indent="-3429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Hypothesis partially supported</a:t>
            </a:r>
          </a:p>
          <a:p>
            <a:pPr marL="342900" lvl="1" indent="-3429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The goldilocks situation:</a:t>
            </a:r>
          </a:p>
          <a:p>
            <a:pPr marL="800100" lvl="2" indent="-3429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Article omission was not more frequent in DLD nor bilingualism (“too cold”)</a:t>
            </a:r>
          </a:p>
          <a:p>
            <a:pPr marL="800100" lvl="2" indent="-3429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3PS extensions more frequent in bilinguals but not children with DLD (“too hot”)</a:t>
            </a:r>
          </a:p>
          <a:p>
            <a:pPr marL="800100" lvl="2" indent="-3429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Clitic omission is more frequent in DLD, but not bilingualism (“just right”)</a:t>
            </a:r>
            <a:endParaRPr lang="en-US" sz="14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42900" lvl="1" indent="-3429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Clitics are therefore useful for diagnosing DLD independently of bilingualism on both quantitative and qualitative grounds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0A5ADE-ABE7-3B83-E925-11C2369FC320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F790676-993C-8655-A01E-9F3DB67F80E2}"/>
              </a:ext>
            </a:extLst>
          </p:cNvPr>
          <p:cNvSpPr txBox="1">
            <a:spLocks/>
          </p:cNvSpPr>
          <p:nvPr/>
        </p:nvSpPr>
        <p:spPr bwMode="auto">
          <a:xfrm>
            <a:off x="152400" y="859769"/>
            <a:ext cx="8915400" cy="568981"/>
          </a:xfrm>
          <a:prstGeom prst="rect">
            <a:avLst/>
          </a:prstGeom>
          <a:solidFill>
            <a:srgbClr val="FFED56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rimson Roman" panose="02000503000000000000" pitchFamily="2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dirty="0">
                <a:solidFill>
                  <a:srgbClr val="BF5700"/>
                </a:solidFill>
                <a:latin typeface="Palatino" pitchFamily="2" charset="77"/>
                <a:ea typeface="Palatino" pitchFamily="2" charset="77"/>
              </a:rPr>
              <a:t>2).	Are there differences in rates of article/clitic omission and extension of third person singular production in children with DLD independent of bilingualism effects?</a:t>
            </a:r>
          </a:p>
        </p:txBody>
      </p:sp>
    </p:spTree>
    <p:extLst>
      <p:ext uri="{BB962C8B-B14F-4D97-AF65-F5344CB8AC3E}">
        <p14:creationId xmlns:p14="http://schemas.microsoft.com/office/powerpoint/2010/main" val="159487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DAFAA-5CA1-032F-4781-773BFBA66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270062-A693-F4DD-ADD7-98919CFF8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79534"/>
            <a:ext cx="8915400" cy="2809674"/>
          </a:xfrm>
        </p:spPr>
        <p:txBody>
          <a:bodyPr>
            <a:noAutofit/>
          </a:bodyPr>
          <a:lstStyle/>
          <a:p>
            <a:pPr marL="342900" lvl="1" indent="-3429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Third person replaces first, but first person does not replace third</a:t>
            </a:r>
          </a:p>
          <a:p>
            <a:pPr marL="342900" lvl="1" indent="-3429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Singular forms replace singular and plural, but plural forms don’t replace singular</a:t>
            </a:r>
          </a:p>
          <a:p>
            <a:pPr marL="342900" lvl="1" indent="-3429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Possible explanations:</a:t>
            </a:r>
          </a:p>
          <a:p>
            <a:pPr marL="742950" lvl="2" indent="-3429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Cannot be purely phonetic: first person forms simpler to pronounce</a:t>
            </a:r>
          </a:p>
          <a:p>
            <a:pPr marL="742950" lvl="2" indent="-3429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Cannot be purely syntactic: systematic substitution takes place</a:t>
            </a:r>
          </a:p>
          <a:p>
            <a:pPr marL="742950" lvl="2" indent="-342900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Feature dropping due to morphological simplification: supports McCarthy (2008)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2D3D2A-F638-07AA-D726-BC7011C924E3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D812486-34C7-1714-57A4-D1A8F1036EA5}"/>
              </a:ext>
            </a:extLst>
          </p:cNvPr>
          <p:cNvSpPr txBox="1">
            <a:spLocks/>
          </p:cNvSpPr>
          <p:nvPr/>
        </p:nvSpPr>
        <p:spPr bwMode="auto">
          <a:xfrm>
            <a:off x="152400" y="859769"/>
            <a:ext cx="8915400" cy="568981"/>
          </a:xfrm>
          <a:prstGeom prst="rect">
            <a:avLst/>
          </a:prstGeom>
          <a:solidFill>
            <a:srgbClr val="FFED56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rimson Roman" panose="02000503000000000000" pitchFamily="2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dirty="0">
                <a:latin typeface="Palatino" pitchFamily="2" charset="77"/>
                <a:ea typeface="Palatino" pitchFamily="2" charset="77"/>
              </a:rPr>
              <a:t>3).	</a:t>
            </a:r>
            <a:r>
              <a:rPr lang="en-US" dirty="0">
                <a:solidFill>
                  <a:srgbClr val="BF5700"/>
                </a:solidFill>
                <a:latin typeface="Palatino" pitchFamily="2" charset="77"/>
                <a:ea typeface="Palatino" pitchFamily="2" charset="77"/>
              </a:rPr>
              <a:t>Do children overproduce third person singular forms in the preterit? If so, do they do so for phonological, morphosyntactic, or syntactic reasons?</a:t>
            </a:r>
          </a:p>
          <a:p>
            <a:pPr marL="457200" indent="-457200"/>
            <a:endParaRPr lang="en-US" dirty="0">
              <a:solidFill>
                <a:srgbClr val="BF5700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4207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F7C01-25F0-C69E-8503-3435BAC8C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244E30-26A8-FA37-7A29-F84650D50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79534"/>
            <a:ext cx="8915400" cy="2809674"/>
          </a:xfrm>
        </p:spPr>
        <p:txBody>
          <a:bodyPr>
            <a:noAutofit/>
          </a:bodyPr>
          <a:lstStyle/>
          <a:p>
            <a:pPr marL="342900" lvl="1" indent="-3429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Positive age effect, but not highly robust</a:t>
            </a:r>
          </a:p>
          <a:p>
            <a:pPr marL="342900" lvl="1" indent="-3429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Aligns with individual data</a:t>
            </a:r>
          </a:p>
          <a:p>
            <a:pPr marL="342900" lvl="1" indent="-3429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No categorical </a:t>
            </a:r>
            <a:r>
              <a:rPr lang="en-US" sz="20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omitters</a:t>
            </a: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in the oldest children</a:t>
            </a:r>
            <a:endParaRPr lang="en-US" sz="16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C5A6DA-7DB7-D12B-3623-4156C83A02B6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64A14F1-3977-96AB-3171-A491E792B055}"/>
              </a:ext>
            </a:extLst>
          </p:cNvPr>
          <p:cNvSpPr txBox="1">
            <a:spLocks/>
          </p:cNvSpPr>
          <p:nvPr/>
        </p:nvSpPr>
        <p:spPr bwMode="auto">
          <a:xfrm>
            <a:off x="152400" y="859769"/>
            <a:ext cx="8915400" cy="568981"/>
          </a:xfrm>
          <a:prstGeom prst="rect">
            <a:avLst/>
          </a:prstGeom>
          <a:solidFill>
            <a:srgbClr val="FFED56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rimson Roman" panose="02000503000000000000" pitchFamily="2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dirty="0">
                <a:latin typeface="Palatino" pitchFamily="2" charset="77"/>
                <a:ea typeface="Palatino" pitchFamily="2" charset="77"/>
              </a:rPr>
              <a:t>4).	</a:t>
            </a:r>
            <a:r>
              <a:rPr lang="en-US" dirty="0">
                <a:solidFill>
                  <a:srgbClr val="BF5700"/>
                </a:solidFill>
                <a:latin typeface="Palatino" pitchFamily="2" charset="77"/>
                <a:ea typeface="Palatino" pitchFamily="2" charset="77"/>
              </a:rPr>
              <a:t>Do older children produce more target-like articles, clitics, and verbal agreement than younger children?</a:t>
            </a:r>
          </a:p>
        </p:txBody>
      </p:sp>
    </p:spTree>
    <p:extLst>
      <p:ext uri="{BB962C8B-B14F-4D97-AF65-F5344CB8AC3E}">
        <p14:creationId xmlns:p14="http://schemas.microsoft.com/office/powerpoint/2010/main" val="144759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9F118-0B24-8556-5B09-B26B96CB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6B0A69-56F1-7327-CA01-F885B389A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8915400" cy="371983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Between-speaker differences are essential in current theories, but:</a:t>
            </a:r>
          </a:p>
          <a:p>
            <a:pPr marL="752475"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Hard to measure proficiency/dominance with DLD (lower proficiency overall)</a:t>
            </a:r>
          </a:p>
          <a:p>
            <a:pPr marL="752475"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New measures such as the Houston-Q enable child-level analysis</a:t>
            </a:r>
            <a:endParaRPr lang="en-US" sz="20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  <a:p>
            <a:pPr marL="381000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Need for receptive and spontaneous production data</a:t>
            </a:r>
          </a:p>
          <a:p>
            <a:pPr marL="123825">
              <a:buFont typeface="Wingdings" pitchFamily="2" charset="2"/>
              <a:buChar char="Ø"/>
            </a:pP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What about additional grammatical structures?</a:t>
            </a:r>
          </a:p>
          <a:p>
            <a:pPr marL="752475"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Preterit/imperfect contrast (earlier acquired, so possibly a better fit)</a:t>
            </a:r>
          </a:p>
          <a:p>
            <a:pPr marL="752475" lvl="1">
              <a:buFont typeface="Wingdings" pitchFamily="2" charset="2"/>
              <a:buChar char="v"/>
            </a:pPr>
            <a:r>
              <a:rPr lang="en-US" sz="16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Syntax – complex syntax is known to be hard, but what about non-complex syntax?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D3A414-9C8E-DD7D-2E64-C7560D4C8B06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11C1E4D7-E3BB-E892-FAE2-D4874D441F50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Limitations and Future Directions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4311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228F2-999A-F83B-54D1-825D26C1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EC6C37-7FFF-7822-3B48-B461471F3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00150"/>
            <a:ext cx="6019800" cy="371983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Funding:</a:t>
            </a: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National Institute of Health, National Institute on Deafness and Other Communication Disorders, award R15DC013670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Collaborators:</a:t>
            </a: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Ana Teresa Pérez-Leroux and Alejandra Auza Benavides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Postdoctoral funding:</a:t>
            </a: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University of Houston Dual Lab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UH/UT Dual Lab members:</a:t>
            </a:r>
            <a:r>
              <a:rPr lang="en-US" sz="20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Michelle Hernández, Javier Jasso, Juliana Ronderos, Ana Teresa Pérez-Leroux, Alejandra Auza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56D653-6DF0-EB26-CE90-8F516AD8F856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B61BA5A4-84F3-9047-B21A-182066D20F72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Special Thanks and Open Data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6EE63F-15C4-BCEF-0250-D70FEAC9D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425" y="1557184"/>
            <a:ext cx="2514600" cy="2514600"/>
          </a:xfrm>
          <a:prstGeom prst="rect">
            <a:avLst/>
          </a:prstGeom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D2F0B18-FDBA-FD43-18EC-70D9A6DF8607}"/>
              </a:ext>
            </a:extLst>
          </p:cNvPr>
          <p:cNvSpPr txBox="1">
            <a:spLocks/>
          </p:cNvSpPr>
          <p:nvPr/>
        </p:nvSpPr>
        <p:spPr>
          <a:xfrm>
            <a:off x="6414425" y="4071784"/>
            <a:ext cx="2514600" cy="55770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bg2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bg2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bg2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bg2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bg2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  <a:hlinkClick r:id="rId4"/>
              </a:rPr>
              <a:t>https://github.com/pthane/</a:t>
            </a:r>
          </a:p>
          <a:p>
            <a:pPr marL="0" indent="0" algn="ctr" fontAlgn="auto">
              <a:spcAft>
                <a:spcPts val="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  <a:hlinkClick r:id="rId4"/>
              </a:rPr>
              <a:t>DEME-Bilingualism-Analysis</a:t>
            </a:r>
            <a:endParaRPr lang="en-US" sz="120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95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2EA90-6734-6518-6413-64FA199F8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F8279C-6BA0-EADA-8192-271390081DAB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1CA3080-08A3-FDE7-9490-936CE43D1FA4}"/>
              </a:ext>
            </a:extLst>
          </p:cNvPr>
          <p:cNvSpPr txBox="1">
            <a:spLocks/>
          </p:cNvSpPr>
          <p:nvPr/>
        </p:nvSpPr>
        <p:spPr>
          <a:xfrm>
            <a:off x="114300" y="2026197"/>
            <a:ext cx="8915400" cy="10911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6000" b="1" dirty="0">
                <a:solidFill>
                  <a:srgbClr val="BF5700"/>
                </a:solidFill>
                <a:latin typeface="Palatino" pitchFamily="2" charset="77"/>
                <a:ea typeface="Palatino" pitchFamily="2" charset="77"/>
              </a:rPr>
              <a:t>References</a:t>
            </a:r>
            <a:endParaRPr lang="en-US" sz="6000" b="1" noProof="0" dirty="0">
              <a:solidFill>
                <a:srgbClr val="BF5700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19068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967F0-E106-23A1-291C-DC79889A1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E6E183-319E-06F3-F2C5-E9CE236CD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47750"/>
            <a:ext cx="8915400" cy="3872230"/>
          </a:xfrm>
        </p:spPr>
        <p:txBody>
          <a:bodyPr>
            <a:noAutofit/>
          </a:bodyPr>
          <a:lstStyle/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Anderson, R. T. (1999). Loss of gender agreement in L1 attrition: Preliminary results.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Bilingual Research Journal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23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(4), 389–408.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/10.1080/15235882.1999.10162742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Anderson, R. T. (2001). Lexical morphology and verb use in child first language loss: A preliminary case study investigation.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International Journal of Bilingualism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5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(4), 377–401.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/10.1177/13670069010050040101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Austin, J., Sánchez, L., Perez-Cortes, S., &amp; Giancaspro, D. (2021). The development of person and number agreement in child heritage speakers of Spanish learning English as a second language. In G. 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Martohardjono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&amp; S. Flynn (Eds.),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Language in development: A crosslinguistic perspective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(p. Electronic version). MIT Press.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Austin, J., Thane, P. D., Rodríguez, S. A., &amp; Goldin, M. (2024). The comprehension of clitic gender in child heritage and second language Spanish: Evidence from a dual language program.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Frontiers in Language Sciences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3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(1334269), 1–15.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/10.3389/flang.2024.1334269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Bedore, L. M., &amp; Leonard, L. B. (2001). Grammatical morphology deficits in Spanish-speaking children with specific language impairment.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Journal of Speech, Language, and Hearing Research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44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(4), 905–924.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/10.1044/1092-4388(2001/072)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Bedore, L. M., &amp; Leonard, L. B. (2005). Verb inflections and noun phrase morphology in the spontaneous speech of Spanish-speaking children with specific language impairment.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Applied Psycholinguistics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26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(2), 195–225.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/10.1017/S0142716405050149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Bishop, D. V. M. (2017). Why is it so hard to reach agreement on terminology? The case of developmental language disorder (DLD).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International Journal of Language &amp; Communication Disorders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52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(6), 671–680.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/10.1111/1460-6984.12335</a:t>
            </a:r>
          </a:p>
          <a:p>
            <a:pPr marL="350838" indent="-350838">
              <a:buNone/>
            </a:pP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Bonuck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K., Shafer, V., Battino, R., Valicenti-McDermott, R. M., Sussman, E. S., &amp; McGrath, K. (2022). Language disorders research on bilingualism, school-age, and related difficulties: A scoping review of descriptive studies.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Academic Pediatrics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22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(4), 518–525.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/10.1016/j.acap.2021.12.002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Borer, H., &amp; Rohrbacher, B. (2002). Minding the absent: Arguments for the Full Competence Hypothesis.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Language Acquisition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10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(2), 123–175.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/10.1207/S15327817LA1002_02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C9C845-6F20-D154-13F8-ACC509AC6F9A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BF9E6203-326A-FD5A-C27F-91766DA4BDB1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References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47780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FC1C-4A9E-1E1E-6765-FE575367B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7DBB0F-BF1B-B36E-00A3-FFA38A324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47750"/>
            <a:ext cx="8915400" cy="3872230"/>
          </a:xfrm>
        </p:spPr>
        <p:txBody>
          <a:bodyPr>
            <a:noAutofit/>
          </a:bodyPr>
          <a:lstStyle/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Castilla-Earls, A., Auza, A., Pérez-Leroux, A. T., Fulcher-Rood, K., &amp; Barr, C. (2020). Morphological errors in monolingual Spanish-speaking children with and without developmental language disorders.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Language, Speech, and Hearing Services in Schools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51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(2), 270–281.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/10.1044/2019_LSHSS-19-00022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Castilla-Earls, A. P., Restrepo, M. A., Pérez-Leroux, A. T., Gray, S., Holmes, P., Gail, D., &amp; Chen, Z. (2016). Interactions between bilingual effects and language impairment: Exploring grammatical markers in Spanish-speaking bilingual children.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Applied Psycholinguistics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37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(5), 1147–1173.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/10.1017/S0142716415000521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Castilla-Earls, A., Pérez-Leroux, A. T., Fulcher-Rood, K., &amp; Barr, C. (2021). Morphological errors in Spanish-speaking bilingual children with and without developmental language disorders.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Language, Speech, and Hearing Services in Schools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52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(2), 497–511.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/10.1044/2020_LSHSS-20-00017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Castilla-Earls, A., Ronderos, J., &amp; Fitton, L. (2023). Spanish bilingual morphosyntactic development in bilingual children with and without developmental language disorder: Articles, clitics, verbs, and the subjunctive mood.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Journal of Speech, Language, and Hearing Research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1–21.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/10.1044/2023_JSLHR-23-00091</a:t>
            </a:r>
          </a:p>
          <a:p>
            <a:pPr marL="350838" indent="-350838">
              <a:buNone/>
            </a:pP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ChildStats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Forum on Child and Family Statistics. (n.d.).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FAM5 Language spoken at home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www.childstats.gov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americaschildren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/tables/fam5.asp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Cuza, A., &amp; Pérez-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Tattam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R. (2016). Grammatical gender selection and phrasal word order in child heritage Spanish: A feature re-assembly approach.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Bilingualism: Language and Cognition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19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(1), 50–68.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/10.1017/S1366728914000893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Cuza, A., Shin, N., &amp; Sánchez, L. (2025). Genericity expression in child heritage Spanish.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Studies in Hispanic and Lusophone Linguistics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18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(1), 107–129.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/10.1515/shll-2025-2004</a:t>
            </a:r>
          </a:p>
          <a:p>
            <a:pPr marL="350838" indent="-350838">
              <a:buNone/>
            </a:pP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Dollaghan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C. A., &amp; Horner, E. A. (2011). Bilingual language assessment: A meta-analysis of diagnostic accuracy.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Journal of Speech, Language, and Hearing Research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54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(4), 1077–1088.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/10.1044/1092-4388(2010/10-0093)</a:t>
            </a:r>
          </a:p>
          <a:p>
            <a:pPr marL="350838" indent="-350838">
              <a:buNone/>
            </a:pP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Dracos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M., &amp; Requena, P. E. (2023). Child heritage speakers’ acquisition of the Spanish subjunctive in volitional and adverbial clauses.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Language Acquisition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30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(1), 1–28.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/10.1080/10489223.2022.2071156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7E2E7D-374C-B0D0-C4C7-5FBC2FD0FF9F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A56E6A-CD4B-3D3C-2520-6DE6A27D92FC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References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81026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E477A-A8AA-0D7A-DDC9-0E4179D3C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67FFEB-1C87-6213-50C4-4E7521B1C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47750"/>
            <a:ext cx="8915400" cy="3872230"/>
          </a:xfrm>
        </p:spPr>
        <p:txBody>
          <a:bodyPr>
            <a:noAutofit/>
          </a:bodyPr>
          <a:lstStyle/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Dunn, L. M., &amp; Dunn, D. M. (2007).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Peabody Picture Vocabulary Test. Examiner’s manual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(4th ed.). Pearson.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Dunn, L. M., &amp; Dunn, L. M. (1997).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Peabody Picture Vocabulary Test–Third edition: Manual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. American Guidance Service.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Goldin, M. (2021). Language activation in dual language schools: The development of subject-verb agreement in the English and Spanish of heritage speaker children.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International Journal of Bilingual Education and Bilingualism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25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(8), 1–22.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/10.1080/13670050.2021.2005529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Grinstead, J., De La Mora, J., Pratt, A., &amp; Flores, B. (2009). Temporal interface delay and root nonfinite verbs in Spanish-speaking children with specific language impairment: Evidence from the grammaticality choice task. In J. Grinstead (Ed.),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Hispanic child languages: Typical and impaired development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(pp. 36–45). John Benjamins.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Grinstead, J., De la Mora, J., Vega-Mendoza, M., &amp; Flores, B. (2009). An experimental study of children’s comprehension of null subjects: Implications for grammatical/performance accounts. In J. Crawford, K. Otaki, &amp; M. Takahashi (Eds.),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Proceedings of the 3rd Conference on Generative Approaches to Language Acquisition North America (GALANA 2008)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(pp. 36–45). 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Cascadilla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Proceedings Project.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Grinstead, J., De la Mora, J., Vega-Mendoza, M., Flores, B., Crawford, J., Otaki, K., &amp; Takahashi, M. (2009). An elicited production test of the optional infinitive stage in child Spanish. In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Proceedings of the 3rd Conference on Generative Approaches to Language Acquisition North America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(pp. 36–45). 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Cascadilla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Proceedings Project.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Mayer, M. (1980).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Frog, where are you?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Puffin Books.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McCarthy, C. (2008). Morphological variability in the comprehension of agreement: An argument for representation over computation.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Second Language Research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24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(4), 459–486.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/10.1177/0267658308095737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McCarthy, C. (2012). Modeling morphological variation and development: Person and number in L2 Spanish.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Linguistic Approaches to Bilingualism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2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(1), 25–53.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/10.1075/lab.2.1.02mcc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1DAD43-38F6-8BB7-B109-161279715D4C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40818741-4E08-5758-8F12-1C84ECA51368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References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269620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C9C50-33CB-CD2D-67C1-025AC0D7B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BA6FF6-65B2-C883-F28C-9E5D12461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47750"/>
            <a:ext cx="8915400" cy="3872230"/>
          </a:xfrm>
        </p:spPr>
        <p:txBody>
          <a:bodyPr>
            <a:noAutofit/>
          </a:bodyPr>
          <a:lstStyle/>
          <a:p>
            <a:pPr marL="350838" indent="-350838">
              <a:buNone/>
            </a:pP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Montrul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S. (2018). The Bottleneck Hypothesis extends to heritage language acquisition. In J. Cho, M. Iverson, T. Judy, T. Leal, &amp; E. 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Shimanskaya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(Eds.),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Studies in bilingualism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(Vol. 55, pp. 149–177). John Benjamins.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/10.1075/sibil.55.06mon</a:t>
            </a:r>
          </a:p>
          <a:p>
            <a:pPr marL="350838" indent="-350838">
              <a:buNone/>
            </a:pP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Montrul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S., &amp; 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Potowski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K. (2007). Command of gender agreement in school-age Spanish-English bilingual children.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International Journal of Bilingualism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11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(3), 301–328.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/10.1177/13670069070110030301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Morgan, G. P., Restrepo, M. A., &amp; Auza, A. (2013). Comparison of Spanish morphology in monolingual and Spanish–English bilingual children with and without language impairment.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Bilingualism: Language and Cognition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16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(3), 578–596.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/10.1017/S1366728912000697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Peña, E. D., Gutiérrez-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Clellen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V. F., Iglesias, A., Goldstein, B. A., &amp; Bedore, L. M. (2018).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Bilingual English Spanish Assessment (BESA)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. Brookes.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Shin, N., Rodríguez, B., Armijo, A., &amp; 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Perara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-Lunde, M. (2019). Child heritage speakers’ production and comprehension of direct object clitic gender in Spanish.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Linguistic Approaches to Bilingualism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9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(4–5), 659–686.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/10.1075/lab.17029.shi</a:t>
            </a:r>
          </a:p>
          <a:p>
            <a:pPr marL="350838" indent="-350838">
              <a:buNone/>
            </a:pP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Slabakova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, R. (2019). The Bottleneck Hypothesis updated. In T. 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Ionin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&amp; M. Rispoli (Eds.),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Language acquisition and language disorders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(Vol. 63, pp. 319–345). John Benjamins. https://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doi.org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/10.1075/lald.63.16sla</a:t>
            </a:r>
          </a:p>
          <a:p>
            <a:pPr marL="350838" indent="-350838">
              <a:buNone/>
            </a:pP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Unsworth, S. (2015). Amount of exposure as a proxy for dominance in bilingual language acquisition. In C. Silva-Corvalán &amp; J. </a:t>
            </a:r>
            <a:r>
              <a:rPr lang="en-US" sz="1100" dirty="0" err="1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Treffers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-Daller (Eds.), </a:t>
            </a:r>
            <a:r>
              <a:rPr lang="en-US" sz="1100" i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Language dominance in bilinguals: Issues of measurement and operationalization</a:t>
            </a:r>
            <a:r>
              <a:rPr lang="en-US" sz="1100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 (pp. 156–173). Cambridge University Press.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726B3E-F400-53A6-B721-0A3D5FD073A3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1C9F5B1-539A-7E0E-5401-8E6BBD2AE9A8}"/>
              </a:ext>
            </a:extLst>
          </p:cNvPr>
          <p:cNvSpPr txBox="1">
            <a:spLocks/>
          </p:cNvSpPr>
          <p:nvPr/>
        </p:nvSpPr>
        <p:spPr>
          <a:xfrm>
            <a:off x="152400" y="490045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References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0787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3399E-3CBE-DD17-F642-C761EB414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0CF65B-0FB5-076E-2E06-C029C18FA0A7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71F0ED2-659E-2F31-890C-E5602E88A8A0}"/>
              </a:ext>
            </a:extLst>
          </p:cNvPr>
          <p:cNvSpPr txBox="1">
            <a:spLocks/>
          </p:cNvSpPr>
          <p:nvPr/>
        </p:nvSpPr>
        <p:spPr>
          <a:xfrm>
            <a:off x="114300" y="2026197"/>
            <a:ext cx="8915400" cy="10911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6000" b="1" dirty="0">
                <a:solidFill>
                  <a:srgbClr val="BF5700"/>
                </a:solidFill>
                <a:latin typeface="Palatino" pitchFamily="2" charset="77"/>
                <a:ea typeface="Palatino" pitchFamily="2" charset="77"/>
              </a:rPr>
              <a:t>Statistical Modeling</a:t>
            </a:r>
            <a:endParaRPr lang="en-US" sz="6000" b="1" noProof="0" dirty="0">
              <a:solidFill>
                <a:srgbClr val="BF5700"/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0979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C5200-1B0C-D324-77DE-B1ABECA55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27CCF3-8578-321D-0FED-D97A66CC3057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A0D29A7-444A-CC70-9F6C-2C1F7BABBFA5}"/>
              </a:ext>
            </a:extLst>
          </p:cNvPr>
          <p:cNvSpPr txBox="1">
            <a:spLocks/>
          </p:cNvSpPr>
          <p:nvPr/>
        </p:nvSpPr>
        <p:spPr>
          <a:xfrm>
            <a:off x="130277" y="458097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Articles Set (Response ~ Group + Age)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F1294F-5725-5D76-1DF0-28A968AB9FD5}"/>
              </a:ext>
            </a:extLst>
          </p:cNvPr>
          <p:cNvGraphicFramePr>
            <a:graphicFrameLocks noGrp="1"/>
          </p:cNvGraphicFramePr>
          <p:nvPr/>
        </p:nvGraphicFramePr>
        <p:xfrm>
          <a:off x="19664" y="975063"/>
          <a:ext cx="9038303" cy="397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7674">
                  <a:extLst>
                    <a:ext uri="{9D8B030D-6E8A-4147-A177-3AD203B41FA5}">
                      <a16:colId xmlns:a16="http://schemas.microsoft.com/office/drawing/2014/main" val="321794152"/>
                    </a:ext>
                  </a:extLst>
                </a:gridCol>
                <a:gridCol w="1299541">
                  <a:extLst>
                    <a:ext uri="{9D8B030D-6E8A-4147-A177-3AD203B41FA5}">
                      <a16:colId xmlns:a16="http://schemas.microsoft.com/office/drawing/2014/main" val="4120742296"/>
                    </a:ext>
                  </a:extLst>
                </a:gridCol>
                <a:gridCol w="1299541">
                  <a:extLst>
                    <a:ext uri="{9D8B030D-6E8A-4147-A177-3AD203B41FA5}">
                      <a16:colId xmlns:a16="http://schemas.microsoft.com/office/drawing/2014/main" val="3905456790"/>
                    </a:ext>
                  </a:extLst>
                </a:gridCol>
                <a:gridCol w="1104609">
                  <a:extLst>
                    <a:ext uri="{9D8B030D-6E8A-4147-A177-3AD203B41FA5}">
                      <a16:colId xmlns:a16="http://schemas.microsoft.com/office/drawing/2014/main" val="1071510766"/>
                    </a:ext>
                  </a:extLst>
                </a:gridCol>
                <a:gridCol w="1104609">
                  <a:extLst>
                    <a:ext uri="{9D8B030D-6E8A-4147-A177-3AD203B41FA5}">
                      <a16:colId xmlns:a16="http://schemas.microsoft.com/office/drawing/2014/main" val="1946390512"/>
                    </a:ext>
                  </a:extLst>
                </a:gridCol>
                <a:gridCol w="974655">
                  <a:extLst>
                    <a:ext uri="{9D8B030D-6E8A-4147-A177-3AD203B41FA5}">
                      <a16:colId xmlns:a16="http://schemas.microsoft.com/office/drawing/2014/main" val="2230204763"/>
                    </a:ext>
                  </a:extLst>
                </a:gridCol>
                <a:gridCol w="1627674">
                  <a:extLst>
                    <a:ext uri="{9D8B030D-6E8A-4147-A177-3AD203B41FA5}">
                      <a16:colId xmlns:a16="http://schemas.microsoft.com/office/drawing/2014/main" val="1745340221"/>
                    </a:ext>
                  </a:extLst>
                </a:gridCol>
              </a:tblGrid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Variable</a:t>
                      </a:r>
                      <a:endParaRPr lang="es-ES_tradnl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1" u="none" strike="noStrike" noProof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Estimate</a:t>
                      </a:r>
                      <a:r>
                        <a:rPr lang="es-ES_tradnl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s-ES_tradnl" sz="1100" b="1" u="none" strike="noStrike" noProof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logit</a:t>
                      </a:r>
                      <a:r>
                        <a:rPr lang="es-ES_tradnl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)</a:t>
                      </a:r>
                      <a:endParaRPr lang="es-ES_tradnl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1" u="none" strike="noStrike" noProof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Probability</a:t>
                      </a:r>
                      <a:endParaRPr lang="es-ES_tradnl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Standard error</a:t>
                      </a:r>
                      <a:endParaRPr lang="es-ES_tradnl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p</a:t>
                      </a:r>
                      <a:endParaRPr lang="es-ES_tradnl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Reference</a:t>
                      </a:r>
                      <a:endParaRPr lang="es-ES_tradnl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1" u="none" strike="noStrike" noProof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Set</a:t>
                      </a:r>
                      <a:endParaRPr lang="es-ES_tradnl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866931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1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Intercept</a:t>
                      </a:r>
                      <a:r>
                        <a:rPr lang="es-ES_tradnl" sz="1100" b="0" i="1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(ML-TD)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3.64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97.4%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0.55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367824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–2.68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72.3%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0.54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909490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–2.51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75.7%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963053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–4.60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27.7%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0.57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56050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in </a:t>
                      </a:r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98.9%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849464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1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Intercept</a:t>
                      </a:r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(ML-DLD)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0.96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72.3%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.014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550957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2.68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97.4%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0.54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98008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75.6%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.642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167771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–1.92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27.7%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398556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in </a:t>
                      </a:r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85.8%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84730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1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Intercept</a:t>
                      </a:r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(BL-TD)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0.48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61.8%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.002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336996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2.51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95.2%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905523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–0.18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57.6%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.642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846298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–2.09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16.6%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499974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in </a:t>
                      </a:r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78.9%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07736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1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Intercept</a:t>
                      </a:r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(BL-DLD)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–0.96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27.7%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.013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944096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4.60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97.4%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0.57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858957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1.92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72.3%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834992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2.09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75.6%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42348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in </a:t>
                      </a:r>
                      <a:r>
                        <a:rPr lang="es-ES_tradnl" sz="11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months</a:t>
                      </a:r>
                      <a:endParaRPr lang="es-ES_tradnl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47.0%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Articles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7180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5285E54-B856-7304-A8F4-405ED21C1A85}"/>
              </a:ext>
            </a:extLst>
          </p:cNvPr>
          <p:cNvSpPr txBox="1"/>
          <p:nvPr/>
        </p:nvSpPr>
        <p:spPr>
          <a:xfrm>
            <a:off x="1679360" y="6103164"/>
            <a:ext cx="10164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>
                <a:solidFill>
                  <a:srgbClr val="C00000"/>
                </a:solidFill>
                <a:latin typeface="Palatino" pitchFamily="2" charset="77"/>
                <a:ea typeface="Palatino" pitchFamily="2" charset="77"/>
              </a:rPr>
              <a:t>Probabilities for group are controlled for age. Probabilities for age imply an increase relative to the intercept over a 12-month period for the reference level group.</a:t>
            </a:r>
          </a:p>
        </p:txBody>
      </p:sp>
    </p:spTree>
    <p:extLst>
      <p:ext uri="{BB962C8B-B14F-4D97-AF65-F5344CB8AC3E}">
        <p14:creationId xmlns:p14="http://schemas.microsoft.com/office/powerpoint/2010/main" val="831526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AC33B-74E8-F9D0-0B60-3276F7F7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9E4ACB-F778-1E07-2470-15E133CB0663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7292864-1561-5F25-8FBF-8861719F8D1E}"/>
              </a:ext>
            </a:extLst>
          </p:cNvPr>
          <p:cNvSpPr txBox="1">
            <a:spLocks/>
          </p:cNvSpPr>
          <p:nvPr/>
        </p:nvSpPr>
        <p:spPr>
          <a:xfrm>
            <a:off x="130277" y="458097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Clitics Set (Response ~ Group + Age)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03B6A4-95A4-F172-097C-91F0116F9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849356"/>
              </p:ext>
            </p:extLst>
          </p:nvPr>
        </p:nvGraphicFramePr>
        <p:xfrm>
          <a:off x="19664" y="975063"/>
          <a:ext cx="9038303" cy="397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7674">
                  <a:extLst>
                    <a:ext uri="{9D8B030D-6E8A-4147-A177-3AD203B41FA5}">
                      <a16:colId xmlns:a16="http://schemas.microsoft.com/office/drawing/2014/main" val="321794152"/>
                    </a:ext>
                  </a:extLst>
                </a:gridCol>
                <a:gridCol w="1299541">
                  <a:extLst>
                    <a:ext uri="{9D8B030D-6E8A-4147-A177-3AD203B41FA5}">
                      <a16:colId xmlns:a16="http://schemas.microsoft.com/office/drawing/2014/main" val="4120742296"/>
                    </a:ext>
                  </a:extLst>
                </a:gridCol>
                <a:gridCol w="1299541">
                  <a:extLst>
                    <a:ext uri="{9D8B030D-6E8A-4147-A177-3AD203B41FA5}">
                      <a16:colId xmlns:a16="http://schemas.microsoft.com/office/drawing/2014/main" val="3905456790"/>
                    </a:ext>
                  </a:extLst>
                </a:gridCol>
                <a:gridCol w="1104609">
                  <a:extLst>
                    <a:ext uri="{9D8B030D-6E8A-4147-A177-3AD203B41FA5}">
                      <a16:colId xmlns:a16="http://schemas.microsoft.com/office/drawing/2014/main" val="1071510766"/>
                    </a:ext>
                  </a:extLst>
                </a:gridCol>
                <a:gridCol w="1104609">
                  <a:extLst>
                    <a:ext uri="{9D8B030D-6E8A-4147-A177-3AD203B41FA5}">
                      <a16:colId xmlns:a16="http://schemas.microsoft.com/office/drawing/2014/main" val="1946390512"/>
                    </a:ext>
                  </a:extLst>
                </a:gridCol>
                <a:gridCol w="974655">
                  <a:extLst>
                    <a:ext uri="{9D8B030D-6E8A-4147-A177-3AD203B41FA5}">
                      <a16:colId xmlns:a16="http://schemas.microsoft.com/office/drawing/2014/main" val="2230204763"/>
                    </a:ext>
                  </a:extLst>
                </a:gridCol>
                <a:gridCol w="1627674">
                  <a:extLst>
                    <a:ext uri="{9D8B030D-6E8A-4147-A177-3AD203B41FA5}">
                      <a16:colId xmlns:a16="http://schemas.microsoft.com/office/drawing/2014/main" val="1745340221"/>
                    </a:ext>
                  </a:extLst>
                </a:gridCol>
              </a:tblGrid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noProof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Variable</a:t>
                      </a:r>
                      <a:endParaRPr lang="en-US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Estimate (logit)</a:t>
                      </a:r>
                      <a:endParaRPr lang="en-US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Probability</a:t>
                      </a:r>
                      <a:endParaRPr lang="en-US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Standard error</a:t>
                      </a:r>
                      <a:endParaRPr lang="en-US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p</a:t>
                      </a:r>
                      <a:endParaRPr lang="en-US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Reference</a:t>
                      </a:r>
                      <a:endParaRPr lang="en-US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noProof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Set</a:t>
                      </a:r>
                      <a:endParaRPr lang="en-US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866931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Intercept (ML-TD)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1.49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81.5%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367824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–2.88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19.9%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909490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–1.52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49.2%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963053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–4.18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6.3%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56050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in months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87.2%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0.008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849464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Intercept (ML-DLD)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–1.39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20.0%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550957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2.88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81.6%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98008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1.36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49.2%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167771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–1.31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6.3%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.001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398556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in months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27.7%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.008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84730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Intercept (BL-TD)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–0.03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49.2%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0.31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.912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336996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1.52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81.5%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905523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–1.36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20.0%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846298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–2.66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6.3%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499974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in months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59.8%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.008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07736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Intercept (BL-DLD)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–2.70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6.3%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944096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ML-TD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4.18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81.6%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858957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ML-DLD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1.31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20.0%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834992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BL-TD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2.66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49.2%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.001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42348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in months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9.4%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.008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BL-DLD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Clitics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7180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90407EF-88A2-8DD9-4116-5F9372FDA577}"/>
              </a:ext>
            </a:extLst>
          </p:cNvPr>
          <p:cNvSpPr txBox="1"/>
          <p:nvPr/>
        </p:nvSpPr>
        <p:spPr>
          <a:xfrm>
            <a:off x="1679360" y="6103164"/>
            <a:ext cx="10164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>
                <a:solidFill>
                  <a:srgbClr val="C00000"/>
                </a:solidFill>
                <a:latin typeface="Palatino" pitchFamily="2" charset="77"/>
                <a:ea typeface="Palatino" pitchFamily="2" charset="77"/>
              </a:rPr>
              <a:t>Probabilities for group are controlled for age. Probabilities for age imply an increase relative to the intercept over a 12-month period for the reference level group.</a:t>
            </a:r>
          </a:p>
        </p:txBody>
      </p:sp>
    </p:spTree>
    <p:extLst>
      <p:ext uri="{BB962C8B-B14F-4D97-AF65-F5344CB8AC3E}">
        <p14:creationId xmlns:p14="http://schemas.microsoft.com/office/powerpoint/2010/main" val="4072192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68F11-85C3-B5D9-89EF-ADB3EE5CD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9442CC-C488-69B8-D698-D1E0B235EFD1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59601578-837A-F5CA-FC48-6B25F424E907}"/>
              </a:ext>
            </a:extLst>
          </p:cNvPr>
          <p:cNvSpPr txBox="1">
            <a:spLocks/>
          </p:cNvSpPr>
          <p:nvPr/>
        </p:nvSpPr>
        <p:spPr>
          <a:xfrm>
            <a:off x="130277" y="458097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Verbal Agreement Set (Response ~ Group + Age)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97C34A-82E2-AB18-F602-DFFD24196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037021"/>
              </p:ext>
            </p:extLst>
          </p:nvPr>
        </p:nvGraphicFramePr>
        <p:xfrm>
          <a:off x="19664" y="975063"/>
          <a:ext cx="9038303" cy="3972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7674">
                  <a:extLst>
                    <a:ext uri="{9D8B030D-6E8A-4147-A177-3AD203B41FA5}">
                      <a16:colId xmlns:a16="http://schemas.microsoft.com/office/drawing/2014/main" val="321794152"/>
                    </a:ext>
                  </a:extLst>
                </a:gridCol>
                <a:gridCol w="1299541">
                  <a:extLst>
                    <a:ext uri="{9D8B030D-6E8A-4147-A177-3AD203B41FA5}">
                      <a16:colId xmlns:a16="http://schemas.microsoft.com/office/drawing/2014/main" val="4120742296"/>
                    </a:ext>
                  </a:extLst>
                </a:gridCol>
                <a:gridCol w="1299541">
                  <a:extLst>
                    <a:ext uri="{9D8B030D-6E8A-4147-A177-3AD203B41FA5}">
                      <a16:colId xmlns:a16="http://schemas.microsoft.com/office/drawing/2014/main" val="3905456790"/>
                    </a:ext>
                  </a:extLst>
                </a:gridCol>
                <a:gridCol w="1104609">
                  <a:extLst>
                    <a:ext uri="{9D8B030D-6E8A-4147-A177-3AD203B41FA5}">
                      <a16:colId xmlns:a16="http://schemas.microsoft.com/office/drawing/2014/main" val="1071510766"/>
                    </a:ext>
                  </a:extLst>
                </a:gridCol>
                <a:gridCol w="1104609">
                  <a:extLst>
                    <a:ext uri="{9D8B030D-6E8A-4147-A177-3AD203B41FA5}">
                      <a16:colId xmlns:a16="http://schemas.microsoft.com/office/drawing/2014/main" val="1946390512"/>
                    </a:ext>
                  </a:extLst>
                </a:gridCol>
                <a:gridCol w="974655">
                  <a:extLst>
                    <a:ext uri="{9D8B030D-6E8A-4147-A177-3AD203B41FA5}">
                      <a16:colId xmlns:a16="http://schemas.microsoft.com/office/drawing/2014/main" val="2230204763"/>
                    </a:ext>
                  </a:extLst>
                </a:gridCol>
                <a:gridCol w="1627674">
                  <a:extLst>
                    <a:ext uri="{9D8B030D-6E8A-4147-A177-3AD203B41FA5}">
                      <a16:colId xmlns:a16="http://schemas.microsoft.com/office/drawing/2014/main" val="1745340221"/>
                    </a:ext>
                  </a:extLst>
                </a:gridCol>
              </a:tblGrid>
              <a:tr h="1891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noProof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Variable</a:t>
                      </a:r>
                      <a:endParaRPr lang="en-US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Estimate (logit)</a:t>
                      </a:r>
                      <a:endParaRPr lang="en-US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Probability</a:t>
                      </a:r>
                      <a:endParaRPr lang="en-US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Standard error</a:t>
                      </a:r>
                      <a:endParaRPr lang="en-US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p</a:t>
                      </a:r>
                      <a:endParaRPr lang="en-US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noProof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Reference</a:t>
                      </a:r>
                      <a:endParaRPr lang="en-US" sz="1100" b="1" i="0" u="none" strike="noStrike" noProof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noProof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Palatino" pitchFamily="2" charset="77"/>
                          <a:cs typeface="Arial" panose="020B0604020202020204" pitchFamily="34" charset="0"/>
                        </a:rPr>
                        <a:t>Set</a:t>
                      </a:r>
                      <a:endParaRPr lang="en-US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Palatino" pitchFamily="2" charset="77"/>
                        <a:cs typeface="Arial" panose="020B0604020202020204" pitchFamily="34" charset="0"/>
                      </a:endParaRPr>
                    </a:p>
                  </a:txBody>
                  <a:tcPr marL="8634" marR="8634" marT="8634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866931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i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Intercept (ML-TD)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1.40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80.2%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.001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367824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ML-DLD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–1.42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49.4%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0.32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.001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909490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–0.53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70.5%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0.30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0.081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963053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BL-DLD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–2.25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29.9%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0.33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.001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56050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Age in months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0.05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87.9%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.001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849464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Intercept (ML-DLD)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–0.02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49.4%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0.40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.954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ML-DLD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550957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1.42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80.2%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0.32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.001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ML-DLD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98008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0.89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70.5%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0.28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.001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ML-DLD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167771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BL-DLD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–0.83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29.9%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0.29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.005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ML-DLD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398556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Age in months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0.05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63.8%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.001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ML-DLD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84730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Intercept (BL-TD)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0.87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70.5%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0.39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.026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336996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0.53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80.2%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0.30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.081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905523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ML-DLD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–0.89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49.4%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0.28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.001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846298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BL-DLD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–1.72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29.9%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0.29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.001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499974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Age in months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0.05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81.1%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.001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07736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Intercept (BL-DLD)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–0.85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29.9%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0.40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.032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BL-DLD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944096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2.25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80.2%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0.33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.001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BL-DLD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858957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ML-DLD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0.83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49.4%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0.29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.005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BL-DLD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834992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BL-TD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1.72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70.5%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0.29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.001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BL-DLD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42348"/>
                  </a:ext>
                </a:extLst>
              </a:tr>
              <a:tr h="1891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Age in months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0.05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43.4%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0.01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i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 .001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BL-DLD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rgbClr val="00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 Agreement</a:t>
                      </a:r>
                    </a:p>
                  </a:txBody>
                  <a:tcPr marL="9525" marR="9525" marT="9525" marB="0" anchor="b">
                    <a:solidFill>
                      <a:srgbClr val="00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7180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FFD0B1D-034F-A2F4-8322-251E518A7E87}"/>
              </a:ext>
            </a:extLst>
          </p:cNvPr>
          <p:cNvSpPr txBox="1"/>
          <p:nvPr/>
        </p:nvSpPr>
        <p:spPr>
          <a:xfrm>
            <a:off x="1679360" y="6103164"/>
            <a:ext cx="10164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>
                <a:solidFill>
                  <a:srgbClr val="C00000"/>
                </a:solidFill>
                <a:latin typeface="Palatino" pitchFamily="2" charset="77"/>
                <a:ea typeface="Palatino" pitchFamily="2" charset="77"/>
              </a:rPr>
              <a:t>Probabilities for group are controlled for age. Probabilities for age imply an increase relative to the intercept over a 12-month period for the reference level group.</a:t>
            </a:r>
          </a:p>
        </p:txBody>
      </p:sp>
    </p:spTree>
    <p:extLst>
      <p:ext uri="{BB962C8B-B14F-4D97-AF65-F5344CB8AC3E}">
        <p14:creationId xmlns:p14="http://schemas.microsoft.com/office/powerpoint/2010/main" val="1583376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03B2C-40EC-E026-2AFB-FA4FE2BA8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217074-A206-B6EC-12F7-ED83F174B7A4}"/>
              </a:ext>
            </a:extLst>
          </p:cNvPr>
          <p:cNvSpPr txBox="1"/>
          <p:nvPr/>
        </p:nvSpPr>
        <p:spPr>
          <a:xfrm>
            <a:off x="7579360" y="2235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02058CC-E66D-6088-BF41-28A80CCD508E}"/>
              </a:ext>
            </a:extLst>
          </p:cNvPr>
          <p:cNvSpPr txBox="1">
            <a:spLocks/>
          </p:cNvSpPr>
          <p:nvPr/>
        </p:nvSpPr>
        <p:spPr>
          <a:xfrm>
            <a:off x="130277" y="458097"/>
            <a:ext cx="8915400" cy="5577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2"/>
                </a:solidFill>
                <a:latin typeface="Arial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b="1" dirty="0">
                <a:solidFill>
                  <a:srgbClr val="595959"/>
                </a:solidFill>
                <a:latin typeface="Palatino" pitchFamily="2" charset="77"/>
                <a:ea typeface="Palatino" pitchFamily="2" charset="77"/>
              </a:rPr>
              <a:t>Qualitative Analysis of Non-Target Responses</a:t>
            </a:r>
            <a:endParaRPr lang="en-US" sz="2800" b="1" noProof="0" dirty="0">
              <a:solidFill>
                <a:srgbClr val="595959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9B02A-31C0-7A2C-7AF1-08708962179E}"/>
              </a:ext>
            </a:extLst>
          </p:cNvPr>
          <p:cNvSpPr txBox="1"/>
          <p:nvPr/>
        </p:nvSpPr>
        <p:spPr>
          <a:xfrm>
            <a:off x="1679360" y="6103164"/>
            <a:ext cx="10164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>
                <a:solidFill>
                  <a:srgbClr val="C00000"/>
                </a:solidFill>
                <a:latin typeface="Palatino" pitchFamily="2" charset="77"/>
                <a:ea typeface="Palatino" pitchFamily="2" charset="77"/>
              </a:rPr>
              <a:t>Probabilities for group are controlled for age. Probabilities for age imply an increase relative to the intercept over a 12-month period for the reference level group.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5299EC-FFC8-50D0-BFD9-601FFDE69E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557642"/>
              </p:ext>
            </p:extLst>
          </p:nvPr>
        </p:nvGraphicFramePr>
        <p:xfrm>
          <a:off x="195415" y="1428750"/>
          <a:ext cx="8785124" cy="3093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2080">
                  <a:extLst>
                    <a:ext uri="{9D8B030D-6E8A-4147-A177-3AD203B41FA5}">
                      <a16:colId xmlns:a16="http://schemas.microsoft.com/office/drawing/2014/main" val="321794152"/>
                    </a:ext>
                  </a:extLst>
                </a:gridCol>
                <a:gridCol w="1017607">
                  <a:extLst>
                    <a:ext uri="{9D8B030D-6E8A-4147-A177-3AD203B41FA5}">
                      <a16:colId xmlns:a16="http://schemas.microsoft.com/office/drawing/2014/main" val="4120742296"/>
                    </a:ext>
                  </a:extLst>
                </a:gridCol>
                <a:gridCol w="1124572">
                  <a:extLst>
                    <a:ext uri="{9D8B030D-6E8A-4147-A177-3AD203B41FA5}">
                      <a16:colId xmlns:a16="http://schemas.microsoft.com/office/drawing/2014/main" val="3905456790"/>
                    </a:ext>
                  </a:extLst>
                </a:gridCol>
                <a:gridCol w="973369">
                  <a:extLst>
                    <a:ext uri="{9D8B030D-6E8A-4147-A177-3AD203B41FA5}">
                      <a16:colId xmlns:a16="http://schemas.microsoft.com/office/drawing/2014/main" val="1071510766"/>
                    </a:ext>
                  </a:extLst>
                </a:gridCol>
                <a:gridCol w="1143472">
                  <a:extLst>
                    <a:ext uri="{9D8B030D-6E8A-4147-A177-3AD203B41FA5}">
                      <a16:colId xmlns:a16="http://schemas.microsoft.com/office/drawing/2014/main" val="1946390512"/>
                    </a:ext>
                  </a:extLst>
                </a:gridCol>
                <a:gridCol w="1361944">
                  <a:extLst>
                    <a:ext uri="{9D8B030D-6E8A-4147-A177-3AD203B41FA5}">
                      <a16:colId xmlns:a16="http://schemas.microsoft.com/office/drawing/2014/main" val="2230204763"/>
                    </a:ext>
                  </a:extLst>
                </a:gridCol>
                <a:gridCol w="1582080">
                  <a:extLst>
                    <a:ext uri="{9D8B030D-6E8A-4147-A177-3AD203B41FA5}">
                      <a16:colId xmlns:a16="http://schemas.microsoft.com/office/drawing/2014/main" val="1745340221"/>
                    </a:ext>
                  </a:extLst>
                </a:gridCol>
              </a:tblGrid>
              <a:tr h="237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Variable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Estimate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Probability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SE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p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Comparison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Helvetica" pitchFamily="2" charset="0"/>
                        </a:rPr>
                        <a:t>Phenomenon</a:t>
                      </a:r>
                    </a:p>
                  </a:txBody>
                  <a:tcPr marL="9525" marR="9525" marT="9525" marB="0" anchor="b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866931"/>
                  </a:ext>
                </a:extLst>
              </a:tr>
              <a:tr h="237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Intercept (TD)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0.21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55.3%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0.40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0.597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Language ability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Article omissions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367824"/>
                  </a:ext>
                </a:extLst>
              </a:tr>
              <a:tr h="237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DLD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0.64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70.1%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0.51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0.206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Language ability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Article omissions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909490"/>
                  </a:ext>
                </a:extLst>
              </a:tr>
              <a:tr h="237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Intercept (Monolingual)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–0.26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48.9%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0.47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0.582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Bilingualism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Article omissions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963053"/>
                  </a:ext>
                </a:extLst>
              </a:tr>
              <a:tr h="237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Bilingual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1.15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79.6%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0.54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0.034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Bilingualism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Article omissions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56050"/>
                  </a:ext>
                </a:extLst>
              </a:tr>
              <a:tr h="237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Intercept (TD)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–2.25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9.6%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0.42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0.000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Language ability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Clitic omissions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849464"/>
                  </a:ext>
                </a:extLst>
              </a:tr>
              <a:tr h="237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DLD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3.15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96.6%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0.55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0.000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Language ability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Clitic omissions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550957"/>
                  </a:ext>
                </a:extLst>
              </a:tr>
              <a:tr h="237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Intercept (Monolingual)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–0.87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34.2%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0.51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0.087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Bilingualism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Clitic omissions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98008"/>
                  </a:ext>
                </a:extLst>
              </a:tr>
              <a:tr h="237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Bilingual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0.43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65.6%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0.62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0.485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Bilingualism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Clitic omissions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167771"/>
                  </a:ext>
                </a:extLst>
              </a:tr>
              <a:tr h="237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Intercept (TD)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–0.95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27.9%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0.13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0.000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Language ability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Third person singular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398556"/>
                  </a:ext>
                </a:extLst>
              </a:tr>
              <a:tr h="237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DLD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–0.22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49.8%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0.23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0.330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Language ability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Third person singular</a:t>
                      </a:r>
                    </a:p>
                  </a:txBody>
                  <a:tcPr marL="9525" marR="9525" marT="9525" marB="0" anchor="b">
                    <a:solidFill>
                      <a:srgbClr val="FFED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84730"/>
                  </a:ext>
                </a:extLst>
              </a:tr>
              <a:tr h="237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Intercept (Monolingual)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–1.43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22.8%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0.20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0.000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Bilingualism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Third person singular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336996"/>
                  </a:ext>
                </a:extLst>
              </a:tr>
              <a:tr h="2379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Bilingual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0.61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69.5%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0.23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0.008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Bilingualism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Third person singular</a:t>
                      </a:r>
                    </a:p>
                  </a:txBody>
                  <a:tcPr marL="9525" marR="9525" marT="9525" marB="0" anchor="b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905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17929"/>
      </p:ext>
    </p:extLst>
  </p:cSld>
  <p:clrMapOvr>
    <a:masterClrMapping/>
  </p:clrMapOvr>
</p:sld>
</file>

<file path=ppt/theme/theme1.xml><?xml version="1.0" encoding="utf-8"?>
<a:theme xmlns:a="http://schemas.openxmlformats.org/drawingml/2006/main" name="16-9 Cover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6-9 Light Backgroun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6-9 White Backgrou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23206</TotalTime>
  <Words>4534</Words>
  <Application>Microsoft Macintosh PowerPoint</Application>
  <PresentationFormat>On-screen Show (16:9)</PresentationFormat>
  <Paragraphs>798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Arial Black</vt:lpstr>
      <vt:lpstr>Calibri</vt:lpstr>
      <vt:lpstr>Helvetica</vt:lpstr>
      <vt:lpstr>Palatino</vt:lpstr>
      <vt:lpstr>Wingdings</vt:lpstr>
      <vt:lpstr>16-9 Cover</vt:lpstr>
      <vt:lpstr>16-9 Light Background</vt:lpstr>
      <vt:lpstr>16-9 White Backgroud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/>
  <dc:creator>University Marketing and Creative Services</dc:creator>
  <cp:keywords/>
  <dc:description/>
  <cp:lastModifiedBy>Thane, Patrick D</cp:lastModifiedBy>
  <cp:revision>2289</cp:revision>
  <cp:lastPrinted>2011-01-24T02:49:42Z</cp:lastPrinted>
  <dcterms:created xsi:type="dcterms:W3CDTF">2011-06-30T15:04:08Z</dcterms:created>
  <dcterms:modified xsi:type="dcterms:W3CDTF">2025-11-14T19:18:42Z</dcterms:modified>
  <cp:category/>
</cp:coreProperties>
</file>